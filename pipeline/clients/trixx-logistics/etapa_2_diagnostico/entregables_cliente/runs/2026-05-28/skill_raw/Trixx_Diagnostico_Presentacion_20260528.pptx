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C1A2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59E0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GRUPO TRIXX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2194560"/>
            <a:ext cx="11091672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Diagnóstico de</a:t>
            </a:r>
            <a:endParaRPr lang="en-US" sz="4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Oportunidades de IA</a:t>
            </a:r>
            <a:endParaRPr lang="en-US" sz="4200" dirty="0"/>
          </a:p>
        </p:txBody>
      </p:sp>
      <p:sp>
        <p:nvSpPr>
          <p:cNvPr id="6" name="Shape 4"/>
          <p:cNvSpPr/>
          <p:nvPr/>
        </p:nvSpPr>
        <p:spPr>
          <a:xfrm>
            <a:off x="548640" y="3794760"/>
            <a:ext cx="2286000" cy="36576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388620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F5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Ciclo 1 — Resultados del Diagnóstico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4343400"/>
            <a:ext cx="110916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Preparado por Ricardo Mejía · 28 de mayo de 2026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4709160"/>
            <a:ext cx="11091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[correo por confirmar]  ·  [WhatsApp por confirmar]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0C1A2E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NEXOSTRAT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11480" y="640080"/>
            <a:ext cx="1136599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C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Cómo llegamos a estas conclusiones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11480" y="1234440"/>
            <a:ext cx="113659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Metodología del diagnóstico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D1D5DB"/>
          </a:solidFill>
          <a:ln/>
        </p:spPr>
      </p:sp>
      <p:sp>
        <p:nvSpPr>
          <p:cNvPr id="7" name="Text 5"/>
          <p:cNvSpPr/>
          <p:nvPr/>
        </p:nvSpPr>
        <p:spPr>
          <a:xfrm>
            <a:off x="274320" y="65379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Grupo Trixx · 28 de mayo de 2026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9445752" y="653796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nexostrat.co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57200" y="1691640"/>
            <a:ext cx="2727198" cy="3200400"/>
          </a:xfrm>
          <a:prstGeom prst="rect">
            <a:avLst/>
          </a:prstGeom>
          <a:solidFill>
            <a:srgbClr val="F5F5F5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546479" y="1920240"/>
            <a:ext cx="548640" cy="548640"/>
          </a:xfrm>
          <a:prstGeom prst="ellipse">
            <a:avLst/>
          </a:prstGeom>
          <a:solidFill>
            <a:srgbClr val="0C1A2E"/>
          </a:solidFill>
          <a:ln/>
        </p:spPr>
      </p:sp>
      <p:sp>
        <p:nvSpPr>
          <p:cNvPr id="11" name="Text 9"/>
          <p:cNvSpPr/>
          <p:nvPr/>
        </p:nvSpPr>
        <p:spPr>
          <a:xfrm>
            <a:off x="1546479" y="19202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94360" y="2651760"/>
            <a:ext cx="249859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C1A2E"/>
                </a:solidFill>
              </a:rPr>
              <a:t>Análisis de empresa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94360" y="3200400"/>
            <a:ext cx="2498598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</a:rPr>
              <a:t>Perfil, financieros, tecnología actual, posición en el mercado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3111246" y="3063240"/>
            <a:ext cx="228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0B981"/>
                </a:solidFill>
              </a:rPr>
              <a:t>→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3275838" y="1691640"/>
            <a:ext cx="2727198" cy="3200400"/>
          </a:xfrm>
          <a:prstGeom prst="rect">
            <a:avLst/>
          </a:prstGeom>
          <a:solidFill>
            <a:srgbClr val="F5F5F5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365117" y="1920240"/>
            <a:ext cx="548640" cy="548640"/>
          </a:xfrm>
          <a:prstGeom prst="ellipse">
            <a:avLst/>
          </a:prstGeom>
          <a:solidFill>
            <a:srgbClr val="0C1A2E"/>
          </a:solidFill>
          <a:ln/>
        </p:spPr>
      </p:sp>
      <p:sp>
        <p:nvSpPr>
          <p:cNvPr id="17" name="Text 15"/>
          <p:cNvSpPr/>
          <p:nvPr/>
        </p:nvSpPr>
        <p:spPr>
          <a:xfrm>
            <a:off x="4365117" y="19202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3412998" y="2651760"/>
            <a:ext cx="249859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C1A2E"/>
                </a:solidFill>
              </a:rPr>
              <a:t>Análisis de industria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412998" y="3200400"/>
            <a:ext cx="2498598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</a:rPr>
              <a:t>Tendencias del sector, adopción de IA, benchmarks y oportunidades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929884" y="3063240"/>
            <a:ext cx="228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0B981"/>
                </a:solidFill>
              </a:rPr>
              <a:t>→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6094476" y="1691640"/>
            <a:ext cx="2727198" cy="3200400"/>
          </a:xfrm>
          <a:prstGeom prst="rect">
            <a:avLst/>
          </a:prstGeom>
          <a:solidFill>
            <a:srgbClr val="F5F5F5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183755" y="1920240"/>
            <a:ext cx="548640" cy="548640"/>
          </a:xfrm>
          <a:prstGeom prst="ellipse">
            <a:avLst/>
          </a:prstGeom>
          <a:solidFill>
            <a:srgbClr val="0C1A2E"/>
          </a:solidFill>
          <a:ln/>
        </p:spPr>
      </p:sp>
      <p:sp>
        <p:nvSpPr>
          <p:cNvPr id="23" name="Text 21"/>
          <p:cNvSpPr/>
          <p:nvPr/>
        </p:nvSpPr>
        <p:spPr>
          <a:xfrm>
            <a:off x="7183755" y="19202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231636" y="2651760"/>
            <a:ext cx="249859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C1A2E"/>
                </a:solidFill>
              </a:rPr>
              <a:t>Análisis competitivo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231636" y="3200400"/>
            <a:ext cx="2498598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</a:rPr>
              <a:t>Qué están haciendo los competidores, brechas y diferenciadores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8748522" y="3063240"/>
            <a:ext cx="228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0B981"/>
                </a:solidFill>
              </a:rPr>
              <a:t>→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8913114" y="1691640"/>
            <a:ext cx="2727198" cy="3200400"/>
          </a:xfrm>
          <a:prstGeom prst="rect">
            <a:avLst/>
          </a:prstGeom>
          <a:solidFill>
            <a:srgbClr val="F5F5F5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0002393" y="1920240"/>
            <a:ext cx="548640" cy="548640"/>
          </a:xfrm>
          <a:prstGeom prst="ellipse">
            <a:avLst/>
          </a:prstGeom>
          <a:solidFill>
            <a:srgbClr val="0C1A2E"/>
          </a:solidFill>
          <a:ln/>
        </p:spPr>
      </p:sp>
      <p:sp>
        <p:nvSpPr>
          <p:cNvPr id="29" name="Text 27"/>
          <p:cNvSpPr/>
          <p:nvPr/>
        </p:nvSpPr>
        <p:spPr>
          <a:xfrm>
            <a:off x="10002393" y="19202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9050274" y="2651760"/>
            <a:ext cx="249859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C1A2E"/>
                </a:solidFill>
              </a:rPr>
              <a:t>Llamada de descubrimiento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9050274" y="3200400"/>
            <a:ext cx="2498598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</a:rPr>
              <a:t>Conversación directa para entender dolores, operación y visión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457200" y="5029200"/>
            <a:ext cx="11274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</a:rPr>
              <a:t>Estos cuatro pasos nos permiten llegar con el contexto necesario para hacer recomendaciones específicas para tu empresa — no genéricas.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0C1A2E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NEXOSTRAT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11480" y="640080"/>
            <a:ext cx="1136599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C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Tu empresa hoy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11480" y="1234440"/>
            <a:ext cx="113659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Grupo Trixx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D1D5DB"/>
          </a:solidFill>
          <a:ln/>
        </p:spPr>
      </p:sp>
      <p:sp>
        <p:nvSpPr>
          <p:cNvPr id="7" name="Text 5"/>
          <p:cNvSpPr/>
          <p:nvPr/>
        </p:nvSpPr>
        <p:spPr>
          <a:xfrm>
            <a:off x="274320" y="65379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Grupo Trixx · 28 de mayo de 2026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9445752" y="653796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nexostrat.co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11480" y="1691640"/>
            <a:ext cx="610042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Grupo Trixx es una operación de logística cross-border entre México y Estados Unidos construida durante 24 años, eslabón por eslabón. Hoy maneja la cadena completa: agencia aduanal, brokerage, transporte terrestre con flota propia, almacenaje, distribución y paquetería de última milla. La operación se reparte en cinco sedes: Tijuana (oficina central y agencia aduanal), Guadalajara (centro de distribución), Ciudad de México, y del lado estadounidense Vernon (zona Los Ángeles) y San Diego.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 compañía acaba de dar un salto de escala: invirtió más de un millón de dólares en duplicar su capacidad, con 10 camiones nuevos y 30 cajas adicionales. El corredor principal mueve contenedores desde Long Beach hasta la bodega de Vernon, y de ahí cruzan a México rumbo a Guadalajara y Ciudad de México, con rutas nuevas abriéndose por Houston y Monterrey.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 operación física ya está. Lo que sigue es la capa de información que la sostenga mientras crece: hoy esa información existe, pero está repartida entre muchos grupos de WhatsApp, hojas de Excel personales y ocho plataformas que no se hablan entre sí.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649060" y="1691640"/>
            <a:ext cx="4658502" cy="438912"/>
          </a:xfrm>
          <a:prstGeom prst="rect">
            <a:avLst/>
          </a:prstGeom>
          <a:solidFill>
            <a:srgbClr val="F5F5F5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649060" y="1691640"/>
            <a:ext cx="36576" cy="438912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2" name="Text 10"/>
          <p:cNvSpPr/>
          <p:nvPr/>
        </p:nvSpPr>
        <p:spPr>
          <a:xfrm>
            <a:off x="6758788" y="1691640"/>
            <a:ext cx="452134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</a:rPr>
              <a:t>24 años de operación continua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649060" y="2203704"/>
            <a:ext cx="4658502" cy="438912"/>
          </a:xfrm>
          <a:prstGeom prst="rect">
            <a:avLst/>
          </a:prstGeom>
          <a:solidFill>
            <a:srgbClr val="F5F5F5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649060" y="2203704"/>
            <a:ext cx="36576" cy="438912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5" name="Text 13"/>
          <p:cNvSpPr/>
          <p:nvPr/>
        </p:nvSpPr>
        <p:spPr>
          <a:xfrm>
            <a:off x="6758788" y="2203704"/>
            <a:ext cx="452134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</a:rPr>
              <a:t>120+ vehículos (22+ camiones, 70+ cajas)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649060" y="2715768"/>
            <a:ext cx="4658502" cy="438912"/>
          </a:xfrm>
          <a:prstGeom prst="rect">
            <a:avLst/>
          </a:prstGeom>
          <a:solidFill>
            <a:srgbClr val="F5F5F5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649060" y="2715768"/>
            <a:ext cx="36576" cy="438912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8" name="Text 16"/>
          <p:cNvSpPr/>
          <p:nvPr/>
        </p:nvSpPr>
        <p:spPr>
          <a:xfrm>
            <a:off x="6758788" y="2715768"/>
            <a:ext cx="452134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</a:rPr>
              <a:t>5 sedes cross-border México–EE.UU.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649060" y="3227832"/>
            <a:ext cx="4658502" cy="438912"/>
          </a:xfrm>
          <a:prstGeom prst="rect">
            <a:avLst/>
          </a:prstGeom>
          <a:solidFill>
            <a:srgbClr val="F5F5F5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649060" y="3227832"/>
            <a:ext cx="36576" cy="438912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1" name="Text 19"/>
          <p:cNvSpPr/>
          <p:nvPr/>
        </p:nvSpPr>
        <p:spPr>
          <a:xfrm>
            <a:off x="6758788" y="3227832"/>
            <a:ext cx="452134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</a:rPr>
              <a:t>Inversión reciente de USD 1M+ que duplicó la flota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649060" y="3739896"/>
            <a:ext cx="4658502" cy="438912"/>
          </a:xfrm>
          <a:prstGeom prst="rect">
            <a:avLst/>
          </a:prstGeom>
          <a:solidFill>
            <a:srgbClr val="F5F5F5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649060" y="3739896"/>
            <a:ext cx="36576" cy="438912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4" name="Text 22"/>
          <p:cNvSpPr/>
          <p:nvPr/>
        </p:nvSpPr>
        <p:spPr>
          <a:xfrm>
            <a:off x="6758788" y="3739896"/>
            <a:ext cx="452134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</a:rPr>
              <a:t>8 plataformas digitales activas, sin integrar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11480" y="4389120"/>
            <a:ext cx="10896082" cy="502920"/>
          </a:xfrm>
          <a:prstGeom prst="rect">
            <a:avLst/>
          </a:prstGeom>
          <a:solidFill>
            <a:srgbClr val="F0FBFF"/>
          </a:solidFill>
          <a:ln w="12700">
            <a:solidFill>
              <a:srgbClr val="E0F2F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48640" y="4389120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C1A2E"/>
                </a:solidFill>
              </a:rPr>
              <a:t>Madurez digital: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2011680" y="4389120"/>
            <a:ext cx="1097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</a:rPr>
              <a:t>Media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063240" y="4389120"/>
            <a:ext cx="838148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</a:rPr>
              <a:t>  Tienen las herramientas (Tracking Premium, Samsara, Monday, McKinney, correo en migración a Microsoft), pero operan aisladas y sin un punto central donde viva la información. El stack está; falta la arquitectura que lo conecte.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411480" y="498348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C1A2E"/>
                </a:solidFill>
              </a:rPr>
              <a:t>Posición competitiva: 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2423160" y="4983480"/>
            <a:ext cx="9491472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</a:rPr>
              <a:t>Dueño-operador de escala media en el nicho Tijuana–Los Ángeles. Supera a los competidores locales en escala física y presencia multi-sede, pero está por detrás de los jugadores tech-enabled (Nuvocargo, Flexport) en la capa digital — exactamente la ventana que aún puede capturar en los próximos 18-30 meses.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0C1A2E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NEXOSTRAT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11480" y="640080"/>
            <a:ext cx="1136599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C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Los problemas que encontramos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11480" y="1234440"/>
            <a:ext cx="113659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 que identificamos en el análisis y confirmamos en nuestra conversación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D1D5DB"/>
          </a:solidFill>
          <a:ln/>
        </p:spPr>
      </p:sp>
      <p:sp>
        <p:nvSpPr>
          <p:cNvPr id="7" name="Text 5"/>
          <p:cNvSpPr/>
          <p:nvPr/>
        </p:nvSpPr>
        <p:spPr>
          <a:xfrm>
            <a:off x="274320" y="65379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Grupo Trixx · 28 de mayo de 2026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9445752" y="653796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nexostrat.co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57200" y="1691640"/>
            <a:ext cx="270891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1691640"/>
            <a:ext cx="2708910" cy="54864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1" name="Text 9"/>
          <p:cNvSpPr/>
          <p:nvPr/>
        </p:nvSpPr>
        <p:spPr>
          <a:xfrm>
            <a:off x="566928" y="1828800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C2626"/>
                </a:solidFill>
              </a:rPr>
              <a:t>#1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66928" y="1828800"/>
            <a:ext cx="248031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</a:rPr>
              <a:t>La información existe, pero no se puede recuperar a tiempo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66928" y="2350008"/>
            <a:ext cx="248031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</a:rPr>
              <a:t>La información operativa está fragmentada en Excel personales y grupos de WhatsApp. La decisora termina consolidando a mano lo que debería poder consultar en segundos, y cuando una persona clave no está, el dato simplemente no aparece.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30352" y="3200400"/>
            <a:ext cx="2553462" cy="822960"/>
          </a:xfrm>
          <a:prstGeom prst="rect">
            <a:avLst/>
          </a:prstGeom>
          <a:solidFill>
            <a:srgbClr val="F0FBFF"/>
          </a:solidFill>
          <a:ln w="12700">
            <a:solidFill>
              <a:srgbClr val="E0F2F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85216" y="3227832"/>
            <a:ext cx="2452878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0C1A2E"/>
                </a:solidFill>
              </a:rPr>
              <a:t>"La información tiene que estar en tres minutos. Si ahorita yo pido la relación de cajas y camiones y se la pido a Miguel, o si no estaba, nadie la tiene."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30352" y="4114800"/>
            <a:ext cx="2553462" cy="685800"/>
          </a:xfrm>
          <a:prstGeom prst="rect">
            <a:avLst/>
          </a:prstGeom>
          <a:solidFill>
            <a:srgbClr val="FFFBE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85216" y="4142232"/>
            <a:ext cx="2452878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B45309"/>
                </a:solidFill>
              </a:rPr>
              <a:t>⏱ Costo de no actuar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585216" y="4343400"/>
            <a:ext cx="2452878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</a:rPr>
              <a:t>Tiempo ejecutivo de la decisora consumido en consolidar información manualmente, en lugar de decidir y crecer.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275838" y="1691640"/>
            <a:ext cx="270891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275838" y="1691640"/>
            <a:ext cx="2708910" cy="54864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21" name="Text 19"/>
          <p:cNvSpPr/>
          <p:nvPr/>
        </p:nvSpPr>
        <p:spPr>
          <a:xfrm>
            <a:off x="3385566" y="1828800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C2626"/>
                </a:solidFill>
              </a:rPr>
              <a:t>#2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3385566" y="1828800"/>
            <a:ext cx="248031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</a:rPr>
              <a:t>Cientos de correos sin filtrar, con dinero en juego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385566" y="2350008"/>
            <a:ext cx="248031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</a:rPr>
              <a:t>Las navieras, terminales y brokers se comunican exclusivamente por correo. La bandeja se acumula a cientos por fin de semana y los correos que se pierden se traducen en demoras de puerto y almacenajes. El reloj de días libres en puerto es distinto por cliente y terminal, y hoy se sigue a mano.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348990" y="3200400"/>
            <a:ext cx="2553462" cy="822960"/>
          </a:xfrm>
          <a:prstGeom prst="rect">
            <a:avLst/>
          </a:prstGeom>
          <a:solidFill>
            <a:srgbClr val="F0FBFF"/>
          </a:solidFill>
          <a:ln w="12700">
            <a:solidFill>
              <a:srgbClr val="E0F2F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403854" y="3227832"/>
            <a:ext cx="2452878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0C1A2E"/>
                </a:solidFill>
              </a:rPr>
              <a:t>"Llegas el lunes y tu bandeja ya tiene 600 correos. Y todo lo que se maneja de contenedores con terminales y navieras es 100% correos."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3348990" y="4114800"/>
            <a:ext cx="2553462" cy="685800"/>
          </a:xfrm>
          <a:prstGeom prst="rect">
            <a:avLst/>
          </a:prstGeom>
          <a:solidFill>
            <a:srgbClr val="FFFBE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403854" y="4142232"/>
            <a:ext cx="2452878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B45309"/>
                </a:solidFill>
              </a:rPr>
              <a:t>⏱ Costo de no actuar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3403854" y="4343400"/>
            <a:ext cx="2452878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</a:rPr>
              <a:t>Cada correo crítico que se pierde puede convertirse en una demora de puerto o un almacenaje pagado de más.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6094476" y="1691640"/>
            <a:ext cx="270891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094476" y="1691640"/>
            <a:ext cx="2708910" cy="54864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1" name="Text 29"/>
          <p:cNvSpPr/>
          <p:nvPr/>
        </p:nvSpPr>
        <p:spPr>
          <a:xfrm>
            <a:off x="6204204" y="1828800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C2626"/>
                </a:solidFill>
              </a:rPr>
              <a:t>#3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6204204" y="1828800"/>
            <a:ext cx="248031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</a:rPr>
              <a:t>Tareas repetitivas que roban tiempo a gente valiosa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204204" y="2350008"/>
            <a:ext cx="248031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</a:rPr>
              <a:t>Información que llega en hojas a mano o en un Excel se vuelve a teclear manualmente en otro documento (por ejemplo, la captura que termina siendo la carta porte). Es trabajo lento, repetitivo y propenso a error humano, multiplicado por varias personas del equipo.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167628" y="3200400"/>
            <a:ext cx="2553462" cy="822960"/>
          </a:xfrm>
          <a:prstGeom prst="rect">
            <a:avLst/>
          </a:prstGeom>
          <a:solidFill>
            <a:srgbClr val="F0FBFF"/>
          </a:solidFill>
          <a:ln w="12700">
            <a:solidFill>
              <a:srgbClr val="E0F2F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222492" y="3227832"/>
            <a:ext cx="2452878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0C1A2E"/>
                </a:solidFill>
              </a:rPr>
              <a:t>"Me la manda a mano y yo se la tengo que regresar así; tengo que coger toda esa información y pasarla a mano en Excel."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6167628" y="4114800"/>
            <a:ext cx="2553462" cy="685800"/>
          </a:xfrm>
          <a:prstGeom prst="rect">
            <a:avLst/>
          </a:prstGeom>
          <a:solidFill>
            <a:srgbClr val="FFFBE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222492" y="4142232"/>
            <a:ext cx="2452878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B45309"/>
                </a:solidFill>
              </a:rPr>
              <a:t>⏱ Costo de no actuar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6222492" y="4343400"/>
            <a:ext cx="2452878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</a:rPr>
              <a:t>Horas diarias de personal dedicadas a copiar y volver a capturar datos que un sistema puede extraer solo, más el riesgo de error.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8913114" y="1691640"/>
            <a:ext cx="270891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8913114" y="1691640"/>
            <a:ext cx="2708910" cy="54864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1" name="Text 39"/>
          <p:cNvSpPr/>
          <p:nvPr/>
        </p:nvSpPr>
        <p:spPr>
          <a:xfrm>
            <a:off x="9022842" y="1828800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C2626"/>
                </a:solidFill>
              </a:rPr>
              <a:t>#4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9022842" y="1828800"/>
            <a:ext cx="248031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</a:rPr>
              <a:t>Ocho plataformas que no se hablan entre sí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9022842" y="2350008"/>
            <a:ext cx="248031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</a:rPr>
              <a:t>Trixx ya invirtió en herramientas (Tracking Premium, Samsara, Monday, McKinney, correo en migración), pero operan como islas. La información se duplica, no se centraliza, y ninguna se aprovecha al 100%.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8986266" y="3200400"/>
            <a:ext cx="2553462" cy="822960"/>
          </a:xfrm>
          <a:prstGeom prst="rect">
            <a:avLst/>
          </a:prstGeom>
          <a:solidFill>
            <a:srgbClr val="F0FBFF"/>
          </a:solidFill>
          <a:ln w="12700">
            <a:solidFill>
              <a:srgbClr val="E0F2FE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9041130" y="3227832"/>
            <a:ext cx="2452878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0C1A2E"/>
                </a:solidFill>
              </a:rPr>
              <a:t>"Tenemos todo, pero lo tenemos todo muy disperso, con parchecitos."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8986266" y="4114800"/>
            <a:ext cx="2553462" cy="685800"/>
          </a:xfrm>
          <a:prstGeom prst="rect">
            <a:avLst/>
          </a:prstGeom>
          <a:solidFill>
            <a:srgbClr val="FFFBE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9041130" y="4142232"/>
            <a:ext cx="2452878" cy="20116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B45309"/>
                </a:solidFill>
              </a:rPr>
              <a:t>⏱ Costo de no actuar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9041130" y="4343400"/>
            <a:ext cx="2452878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</a:rPr>
              <a:t>Pago de plataformas cuyo valor no se captura, decisiones lentas por información dispersa, y dependencia de plataformas de pago que si se cancelan se llevan los datos.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0C1A2E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NEXOSTRAT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11480" y="640080"/>
            <a:ext cx="1136599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C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Las oportunidades de IA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11480" y="1234440"/>
            <a:ext cx="113659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Identificamos 6 oportunidades específicas para Grupo Trixx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D1D5DB"/>
          </a:solidFill>
          <a:ln/>
        </p:spPr>
      </p:sp>
      <p:sp>
        <p:nvSpPr>
          <p:cNvPr id="7" name="Text 5"/>
          <p:cNvSpPr/>
          <p:nvPr/>
        </p:nvSpPr>
        <p:spPr>
          <a:xfrm>
            <a:off x="274320" y="65379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Grupo Trixx · 28 de mayo de 2026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9445752" y="653796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nexostrat.co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57200" y="1691640"/>
            <a:ext cx="3648456" cy="2240280"/>
          </a:xfrm>
          <a:prstGeom prst="rect">
            <a:avLst/>
          </a:prstGeom>
          <a:solidFill>
            <a:srgbClr val="ECFDF5"/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1691640"/>
            <a:ext cx="36576" cy="224028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1" name="Text 9"/>
          <p:cNvSpPr/>
          <p:nvPr/>
        </p:nvSpPr>
        <p:spPr>
          <a:xfrm>
            <a:off x="3099816" y="1764792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10B981"/>
                </a:solidFill>
              </a:rPr>
              <a:t>⚡ Quick Win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66928" y="1764792"/>
            <a:ext cx="250545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C1A2E"/>
                </a:solidFill>
              </a:rPr>
              <a:t>Asistente de WhatsApp que organiza la información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66928" y="2075688"/>
            <a:ext cx="346557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Información y coordinación interna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66928" y="2258568"/>
            <a:ext cx="3465576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</a:rPr>
              <a:t>Un asistente inteligente conectado a los grupos de WhatsApp de Trixx que lee todos los mensajes, distingue lo importante de lo accesorio, y extrae los datos de fotos, PDF, Excel y hasta cuadros escritos a mano. Esa información se organiza sola en el documento central y genera alertas (mantenimiento por vencer, contenedor con muchos días en puerto, vencimientos, presupuestos). El equipo sigue trabajando en WhatsApp exactamente como hoy.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566928" y="3639312"/>
            <a:ext cx="34655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0B981"/>
                </a:solidFill>
              </a:rPr>
              <a:t>USD 10,000 – 15,000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215384" y="1691640"/>
            <a:ext cx="3648456" cy="2240280"/>
          </a:xfrm>
          <a:prstGeom prst="rect">
            <a:avLst/>
          </a:prstGeom>
          <a:solidFill>
            <a:srgbClr val="F5F5F5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215384" y="1691640"/>
            <a:ext cx="36576" cy="2240280"/>
          </a:xfrm>
          <a:prstGeom prst="rect">
            <a:avLst/>
          </a:prstGeom>
          <a:solidFill>
            <a:srgbClr val="0C1A2E"/>
          </a:solidFill>
          <a:ln/>
        </p:spPr>
      </p:sp>
      <p:sp>
        <p:nvSpPr>
          <p:cNvPr id="18" name="Text 16"/>
          <p:cNvSpPr/>
          <p:nvPr/>
        </p:nvSpPr>
        <p:spPr>
          <a:xfrm>
            <a:off x="4325112" y="1764792"/>
            <a:ext cx="346557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C1A2E"/>
                </a:solidFill>
              </a:rPr>
              <a:t>Filtros inteligentes de correo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325112" y="2075688"/>
            <a:ext cx="346557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Operación de contenedores y correo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325112" y="2258568"/>
            <a:ext cx="3465576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</a:rPr>
              <a:t>Una capa de inteligencia sobre el correo corporativo que lee cada mensaje de navieras, terminales y brokers, lo clasifica por urgencia, lo archiva en la carpeta correcta, extrae la información accionable (número de contenedor, fechas de arribo, demoras) y genera alertas. Incluye sanear la entrega del correo, que hoy no llega bien a Gmail/Hotmail.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325112" y="3639312"/>
            <a:ext cx="34655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C1A2E"/>
                </a:solidFill>
              </a:rPr>
              <a:t>USD 4,000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7973568" y="1691640"/>
            <a:ext cx="3648456" cy="2240280"/>
          </a:xfrm>
          <a:prstGeom prst="rect">
            <a:avLst/>
          </a:prstGeom>
          <a:solidFill>
            <a:srgbClr val="ECFDF5"/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973568" y="1691640"/>
            <a:ext cx="36576" cy="224028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4" name="Text 22"/>
          <p:cNvSpPr/>
          <p:nvPr/>
        </p:nvSpPr>
        <p:spPr>
          <a:xfrm>
            <a:off x="10616184" y="1764792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10B981"/>
                </a:solidFill>
              </a:rPr>
              <a:t>⚡ Quick Win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8083296" y="1764792"/>
            <a:ext cx="250545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C1A2E"/>
                </a:solidFill>
              </a:rPr>
              <a:t>Documentos vivos con un tablero maestro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8083296" y="2075688"/>
            <a:ext cx="346557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Información y coordinación interna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8083296" y="2258568"/>
            <a:ext cx="3465576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</a:rPr>
              <a:t>Cada persona mantiene su propia hoja (sigue trabajando como hoy), y todas alimentan en tiempo real un documento maestro donde la dirección ve toda la información consolidada, con permisos por rol para que nadie dañe el trabajo de otro. El orden y la limpieza que da una plataforma como Monday se logra sobre la herramienta que ustedes ya tengan; la información de Monday y de Tracking Premium se puede llevar a un solo lugar.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8083296" y="3639312"/>
            <a:ext cx="34655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0B981"/>
                </a:solidFill>
              </a:rPr>
              <a:t>USD 8,000 – 12,000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57200" y="4023360"/>
            <a:ext cx="3648456" cy="2240280"/>
          </a:xfrm>
          <a:prstGeom prst="rect">
            <a:avLst/>
          </a:prstGeom>
          <a:solidFill>
            <a:srgbClr val="F5F5F5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57200" y="4023360"/>
            <a:ext cx="36576" cy="2240280"/>
          </a:xfrm>
          <a:prstGeom prst="rect">
            <a:avLst/>
          </a:prstGeom>
          <a:solidFill>
            <a:srgbClr val="0C1A2E"/>
          </a:solidFill>
          <a:ln/>
        </p:spPr>
      </p:sp>
      <p:sp>
        <p:nvSpPr>
          <p:cNvPr id="31" name="Text 29"/>
          <p:cNvSpPr/>
          <p:nvPr/>
        </p:nvSpPr>
        <p:spPr>
          <a:xfrm>
            <a:off x="566928" y="4096512"/>
            <a:ext cx="346557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C1A2E"/>
                </a:solidFill>
              </a:rPr>
              <a:t>Expediente digital de camiones (Pilar 1)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66928" y="4407408"/>
            <a:ext cx="346557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Flota y activos físicos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66928" y="4590288"/>
            <a:ext cx="3465576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</a:rPr>
              <a:t>Una hoja de vida digital por cada camión, caja y vehículo: mantenimientos, consumo de diésel, kilómetros, inspecciones, vencimientos de placas y permisos, incidentes en carretera e historial de choferes. Se alimenta sola desde el asistente de WhatsApp (cuando un chofer reporta un arreglo) y desde Samsara (kilómetros, diésel, telemetría).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566928" y="5971032"/>
            <a:ext cx="34655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C1A2E"/>
                </a:solidFill>
              </a:rPr>
              <a:t>USD 12,000 – 15,000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4215384" y="4023360"/>
            <a:ext cx="3648456" cy="2240280"/>
          </a:xfrm>
          <a:prstGeom prst="rect">
            <a:avLst/>
          </a:prstGeom>
          <a:solidFill>
            <a:srgbClr val="F5F5F5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215384" y="4023360"/>
            <a:ext cx="36576" cy="2240280"/>
          </a:xfrm>
          <a:prstGeom prst="rect">
            <a:avLst/>
          </a:prstGeom>
          <a:solidFill>
            <a:srgbClr val="0C1A2E"/>
          </a:solidFill>
          <a:ln/>
        </p:spPr>
      </p:sp>
      <p:sp>
        <p:nvSpPr>
          <p:cNvPr id="37" name="Text 35"/>
          <p:cNvSpPr/>
          <p:nvPr/>
        </p:nvSpPr>
        <p:spPr>
          <a:xfrm>
            <a:off x="4325112" y="4096512"/>
            <a:ext cx="346557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C1A2E"/>
                </a:solidFill>
              </a:rPr>
              <a:t>Libera a tu equipo: automatización por persona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4325112" y="4407408"/>
            <a:ext cx="346557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Información y coordinación interna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4325112" y="4590288"/>
            <a:ext cx="3465576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</a:rPr>
              <a:t>Un acompañamiento de inmersión: nos sentamos unos días con cada persona del equipo (las que ustedes elijan) para entender su trabajo y automatizar las tareas repetitivas que les roban tiempo, como capturar a mano de un Excel a la carta porte. No reemplazamos a nadie: liberamos al equipo para que dedique su tiempo a lo importante.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4325112" y="5971032"/>
            <a:ext cx="34655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C1A2E"/>
                </a:solidFill>
              </a:rPr>
              <a:t>USD 8,000 – 12,000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7973568" y="4023360"/>
            <a:ext cx="3648456" cy="2240280"/>
          </a:xfrm>
          <a:prstGeom prst="rect">
            <a:avLst/>
          </a:prstGeom>
          <a:solidFill>
            <a:srgbClr val="F5F5F5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7973568" y="4023360"/>
            <a:ext cx="36576" cy="2240280"/>
          </a:xfrm>
          <a:prstGeom prst="rect">
            <a:avLst/>
          </a:prstGeom>
          <a:solidFill>
            <a:srgbClr val="0C1A2E"/>
          </a:solidFill>
          <a:ln/>
        </p:spPr>
      </p:sp>
      <p:sp>
        <p:nvSpPr>
          <p:cNvPr id="43" name="Text 41"/>
          <p:cNvSpPr/>
          <p:nvPr/>
        </p:nvSpPr>
        <p:spPr>
          <a:xfrm>
            <a:off x="8083296" y="4096512"/>
            <a:ext cx="346557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C1A2E"/>
                </a:solidFill>
              </a:rPr>
              <a:t>Conciliación automática de pagos del broker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8083296" y="4407408"/>
            <a:ext cx="346557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Operación de contenedores y correo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8083296" y="4590288"/>
            <a:ext cx="3465576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</a:rPr>
              <a:t>Un sistema que recibe la relación mensual de contenedores del broker estadounidense, la cruza automáticamente contra los correos y los registros internos, y entrega un informe listo para auditar. Hoy son 135 contenedores al mes que se revisan a mano, uno por uno.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8083296" y="5971032"/>
            <a:ext cx="34655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C1A2E"/>
                </a:solidFill>
              </a:rPr>
              <a:t>USD 10,000 – 15,000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0C1A2E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NEXOSTRAT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11480" y="640080"/>
            <a:ext cx="1136599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C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Quick Wins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11480" y="1234440"/>
            <a:ext cx="113659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Por dónde empezar: alto impacto, baja fricción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D1D5DB"/>
          </a:solidFill>
          <a:ln/>
        </p:spPr>
      </p:sp>
      <p:sp>
        <p:nvSpPr>
          <p:cNvPr id="7" name="Text 5"/>
          <p:cNvSpPr/>
          <p:nvPr/>
        </p:nvSpPr>
        <p:spPr>
          <a:xfrm>
            <a:off x="274320" y="65379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Grupo Trixx · 28 de mayo de 2026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9445752" y="653796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nexostrat.co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11480" y="1691640"/>
            <a:ext cx="5545836" cy="4114800"/>
          </a:xfrm>
          <a:prstGeom prst="rect">
            <a:avLst/>
          </a:prstGeom>
          <a:solidFill>
            <a:srgbClr val="ECFDF5"/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11480" y="1691640"/>
            <a:ext cx="5545836" cy="4572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1691640"/>
            <a:ext cx="527151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⚡ Quick Win 1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48640" y="2240280"/>
            <a:ext cx="527151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C1A2E"/>
                </a:solidFill>
              </a:rPr>
              <a:t>Asistente de WhatsApp que organiza la información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48640" y="2770632"/>
            <a:ext cx="527151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Información y coordinación interna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48640" y="3044952"/>
            <a:ext cx="5271516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</a:rPr>
              <a:t>Un asistente inteligente conectado a los grupos de WhatsApp de Trixx que lee todos los mensajes, distingue lo importante de lo accesorio, y extrae los datos de fotos, PDF, Excel y hasta cuadros escritos a mano. Esa información se organiza sola en el documento central y genera alertas (mantenimiento por vencer, contenedor con muchos días en puerto, vencimientos, presupuestos). El equipo sigue trabajando en WhatsApp exactamente como hoy.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21208" y="4206240"/>
            <a:ext cx="532638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" y="4233672"/>
            <a:ext cx="518007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0B981"/>
                </a:solidFill>
              </a:rPr>
              <a:t>Beneficio esperado: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94360" y="4425696"/>
            <a:ext cx="518007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</a:rPr>
              <a:t>La información deja de perderse y deja de teclearse a mano. Sin capacitación para el equipo de campo: siguen mandando lo que mandan, y el asistente lo convierte en datos organizados.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521208" y="4937760"/>
            <a:ext cx="5326380" cy="594360"/>
          </a:xfrm>
          <a:prstGeom prst="rect">
            <a:avLst/>
          </a:prstGeom>
          <a:solidFill>
            <a:srgbClr val="0C1A2E"/>
          </a:solidFill>
          <a:ln/>
        </p:spPr>
      </p:sp>
      <p:sp>
        <p:nvSpPr>
          <p:cNvPr id="19" name="Text 17"/>
          <p:cNvSpPr/>
          <p:nvPr/>
        </p:nvSpPr>
        <p:spPr>
          <a:xfrm>
            <a:off x="594360" y="4965192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5F5F5"/>
                </a:solidFill>
              </a:rPr>
              <a:t>Inversión: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594360" y="5184648"/>
            <a:ext cx="518007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</a:rPr>
              <a:t>USD 10,000 – 15,000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94360" y="5184648"/>
            <a:ext cx="518007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F5F5F5"/>
                </a:solidFill>
              </a:rPr>
              <a:t>+ USD 150/mes infraestructura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048756" y="1691640"/>
            <a:ext cx="5545836" cy="4114800"/>
          </a:xfrm>
          <a:prstGeom prst="rect">
            <a:avLst/>
          </a:prstGeom>
          <a:solidFill>
            <a:srgbClr val="ECFDF5"/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048756" y="1691640"/>
            <a:ext cx="5545836" cy="4572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4" name="Text 22"/>
          <p:cNvSpPr/>
          <p:nvPr/>
        </p:nvSpPr>
        <p:spPr>
          <a:xfrm>
            <a:off x="6185916" y="1691640"/>
            <a:ext cx="527151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⚡ Quick Win 2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185916" y="2240280"/>
            <a:ext cx="527151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C1A2E"/>
                </a:solidFill>
              </a:rPr>
              <a:t>Documentos vivos con un tablero maestro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6185916" y="2770632"/>
            <a:ext cx="527151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Información y coordinación interna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185916" y="3044952"/>
            <a:ext cx="5271516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</a:rPr>
              <a:t>Cada persona mantiene su propia hoja (sigue trabajando como hoy), y todas alimentan en tiempo real un documento maestro donde la dirección ve toda la información consolidada, con permisos por rol para que nadie dañe el trabajo de otro. El orden y la limpieza que da una plataforma como Monday se logra sobre la herramienta que ustedes ya tengan; la información de Monday y de Tracking Premium se puede llevar a un solo lugar.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6158484" y="4206240"/>
            <a:ext cx="532638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231636" y="4233672"/>
            <a:ext cx="518007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0B981"/>
                </a:solidFill>
              </a:rPr>
              <a:t>Beneficio esperado: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231636" y="4425696"/>
            <a:ext cx="518007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</a:rPr>
              <a:t>Cumple la meta de los tres minutos: cualquier dato operativo se consulta al instante, desde cualquier lugar, sin depender de una persona. Es la base sobre la que se apoyan los dos pilares de la operación.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6158484" y="4937760"/>
            <a:ext cx="5326380" cy="594360"/>
          </a:xfrm>
          <a:prstGeom prst="rect">
            <a:avLst/>
          </a:prstGeom>
          <a:solidFill>
            <a:srgbClr val="0C1A2E"/>
          </a:solidFill>
          <a:ln/>
        </p:spPr>
      </p:sp>
      <p:sp>
        <p:nvSpPr>
          <p:cNvPr id="32" name="Text 30"/>
          <p:cNvSpPr/>
          <p:nvPr/>
        </p:nvSpPr>
        <p:spPr>
          <a:xfrm>
            <a:off x="6231636" y="4965192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5F5F5"/>
                </a:solidFill>
              </a:rPr>
              <a:t>Inversión: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6231636" y="5184648"/>
            <a:ext cx="518007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</a:rPr>
              <a:t>USD 8,000 – 12,000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0C1A2E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NEXOSTRAT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11480" y="640080"/>
            <a:ext cx="1136599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C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Hoja de ruta — Ciclo 2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11480" y="1234440"/>
            <a:ext cx="113659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Diseño e implementación: de la oportunidad a la solución en producción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D1D5DB"/>
          </a:solidFill>
          <a:ln/>
        </p:spPr>
      </p:sp>
      <p:sp>
        <p:nvSpPr>
          <p:cNvPr id="7" name="Text 5"/>
          <p:cNvSpPr/>
          <p:nvPr/>
        </p:nvSpPr>
        <p:spPr>
          <a:xfrm>
            <a:off x="274320" y="65379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Grupo Trixx · 28 de mayo de 2026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9445752" y="653796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nexostrat.co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57200" y="1691640"/>
            <a:ext cx="3648456" cy="41148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1691640"/>
            <a:ext cx="346557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Fase 1 — Bases / Victorias rápidas (0-3 meses)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2103120"/>
            <a:ext cx="3648456" cy="3200400"/>
          </a:xfrm>
          <a:prstGeom prst="rect">
            <a:avLst/>
          </a:prstGeom>
          <a:solidFill>
            <a:srgbClr val="F5F5F5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2194560"/>
            <a:ext cx="346557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</a:rPr>
              <a:t>Las tres bases que capturan y consolidan la información sin pedirle al equipo aprender nada nuevo: el asistente de WhatsApp, los filtros de correo y el documento maestro vivo. Sobre estas tres se apoya todo lo demás.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48640" y="2880360"/>
            <a:ext cx="3465576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2880360"/>
            <a:ext cx="36576" cy="475488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2907792"/>
            <a:ext cx="3328416" cy="237744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2937"/>
                </a:solidFill>
              </a:rPr>
              <a:t>Asistente de WhatsApp que organiza la información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40080" y="3136392"/>
            <a:ext cx="332841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0B981"/>
                </a:solidFill>
              </a:rPr>
              <a:t>USD 10,000 – 15,000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48640" y="3429000"/>
            <a:ext cx="3465576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48640" y="3429000"/>
            <a:ext cx="36576" cy="475488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3456432"/>
            <a:ext cx="3328416" cy="237744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2937"/>
                </a:solidFill>
              </a:rPr>
              <a:t>Filtros inteligentes de correo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40080" y="3685032"/>
            <a:ext cx="332841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0B981"/>
                </a:solidFill>
              </a:rPr>
              <a:t>USD 4,000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48640" y="3977640"/>
            <a:ext cx="3465576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48640" y="3977640"/>
            <a:ext cx="36576" cy="475488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" y="4005072"/>
            <a:ext cx="3328416" cy="237744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2937"/>
                </a:solidFill>
              </a:rPr>
              <a:t>Documentos vivos con un tablero maestro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40080" y="4233672"/>
            <a:ext cx="332841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0B981"/>
                </a:solidFill>
              </a:rPr>
              <a:t>USD 8,000 – 12,000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105656" y="3337560"/>
            <a:ext cx="137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B7280"/>
                </a:solidFill>
              </a:rPr>
              <a:t>→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4215384" y="1691640"/>
            <a:ext cx="3648456" cy="411480"/>
          </a:xfrm>
          <a:prstGeom prst="rect">
            <a:avLst/>
          </a:prstGeom>
          <a:solidFill>
            <a:srgbClr val="0C1A2E"/>
          </a:solidFill>
          <a:ln/>
        </p:spPr>
      </p:sp>
      <p:sp>
        <p:nvSpPr>
          <p:cNvPr id="27" name="Text 25"/>
          <p:cNvSpPr/>
          <p:nvPr/>
        </p:nvSpPr>
        <p:spPr>
          <a:xfrm>
            <a:off x="4306824" y="1691640"/>
            <a:ext cx="346557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Fase 2 — Construir los pilares (3-6 meses)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215384" y="2103120"/>
            <a:ext cx="3648456" cy="3200400"/>
          </a:xfrm>
          <a:prstGeom prst="rect">
            <a:avLst/>
          </a:prstGeom>
          <a:solidFill>
            <a:srgbClr val="F5F5F5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306824" y="2194560"/>
            <a:ext cx="346557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</a:rPr>
              <a:t>Con las bases listas, se levanta el expediente digital de camiones (el primer pilar) y se libera al equipo automatizando sus tareas repetitivas, persona por persona.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306824" y="2880360"/>
            <a:ext cx="3465576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306824" y="2880360"/>
            <a:ext cx="36576" cy="475488"/>
          </a:xfrm>
          <a:prstGeom prst="rect">
            <a:avLst/>
          </a:prstGeom>
          <a:solidFill>
            <a:srgbClr val="0C1A2E"/>
          </a:solidFill>
          <a:ln/>
        </p:spPr>
      </p:sp>
      <p:sp>
        <p:nvSpPr>
          <p:cNvPr id="32" name="Text 30"/>
          <p:cNvSpPr/>
          <p:nvPr/>
        </p:nvSpPr>
        <p:spPr>
          <a:xfrm>
            <a:off x="4398264" y="2907792"/>
            <a:ext cx="3328416" cy="237744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2937"/>
                </a:solidFill>
              </a:rPr>
              <a:t>Expediente digital de camiones (Pilar 1)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398264" y="3136392"/>
            <a:ext cx="332841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C1A2E"/>
                </a:solidFill>
              </a:rPr>
              <a:t>USD 12,000 – 15,000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306824" y="3429000"/>
            <a:ext cx="3465576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306824" y="3429000"/>
            <a:ext cx="36576" cy="475488"/>
          </a:xfrm>
          <a:prstGeom prst="rect">
            <a:avLst/>
          </a:prstGeom>
          <a:solidFill>
            <a:srgbClr val="0C1A2E"/>
          </a:solidFill>
          <a:ln/>
        </p:spPr>
      </p:sp>
      <p:sp>
        <p:nvSpPr>
          <p:cNvPr id="36" name="Text 34"/>
          <p:cNvSpPr/>
          <p:nvPr/>
        </p:nvSpPr>
        <p:spPr>
          <a:xfrm>
            <a:off x="4398264" y="3456432"/>
            <a:ext cx="3328416" cy="237744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2937"/>
                </a:solidFill>
              </a:rPr>
              <a:t>Libera a tu equipo: automatización por persona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4398264" y="3685032"/>
            <a:ext cx="332841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C1A2E"/>
                </a:solidFill>
              </a:rPr>
              <a:t>USD 8,000 – 12,000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7863840" y="3337560"/>
            <a:ext cx="137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B7280"/>
                </a:solidFill>
              </a:rPr>
              <a:t>→</a:t>
            </a:r>
            <a:endParaRPr lang="en-US" sz="1800" dirty="0"/>
          </a:p>
        </p:txBody>
      </p:sp>
      <p:sp>
        <p:nvSpPr>
          <p:cNvPr id="39" name="Shape 37"/>
          <p:cNvSpPr/>
          <p:nvPr/>
        </p:nvSpPr>
        <p:spPr>
          <a:xfrm>
            <a:off x="7973568" y="1691640"/>
            <a:ext cx="3648456" cy="41148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0" name="Text 38"/>
          <p:cNvSpPr/>
          <p:nvPr/>
        </p:nvSpPr>
        <p:spPr>
          <a:xfrm>
            <a:off x="8065008" y="1691640"/>
            <a:ext cx="346557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Fase 3 — Transformación y crecimiento (6-12 meses)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7973568" y="2103120"/>
            <a:ext cx="3648456" cy="3200400"/>
          </a:xfrm>
          <a:prstGeom prst="rect">
            <a:avLst/>
          </a:prstGeom>
          <a:solidFill>
            <a:srgbClr val="F5F5F5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065008" y="2194560"/>
            <a:ext cx="346557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</a:rPr>
              <a:t>Conciliación automática del broker y, sobre la base ya construida, el segundo pilar completo: tracking unificado de contenedores para todos los clientes, un portal donde cada cliente ve su mercancía en tiempo real, un CRM para crecer y atraer clientes, la consolidación de la presencia online, y eventualmente una plataforma propia que reemplace las herramientas rentadas. Cada paso es más fácil porque ya controlamos cómo llega la información.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8065008" y="2880360"/>
            <a:ext cx="3465576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8065008" y="2880360"/>
            <a:ext cx="36576" cy="47548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5" name="Text 43"/>
          <p:cNvSpPr/>
          <p:nvPr/>
        </p:nvSpPr>
        <p:spPr>
          <a:xfrm>
            <a:off x="8156448" y="2907792"/>
            <a:ext cx="3328416" cy="237744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2937"/>
                </a:solidFill>
              </a:rPr>
              <a:t>Conciliación automática de pagos del broker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8156448" y="3136392"/>
            <a:ext cx="332841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9E0B"/>
                </a:solidFill>
              </a:rPr>
              <a:t>USD 10,000 – 15,000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457200" y="5440680"/>
            <a:ext cx="11274552" cy="411480"/>
          </a:xfrm>
          <a:prstGeom prst="rect">
            <a:avLst/>
          </a:prstGeom>
          <a:solidFill>
            <a:srgbClr val="0C1A2E"/>
          </a:solidFill>
          <a:ln/>
        </p:spPr>
      </p:sp>
      <p:sp>
        <p:nvSpPr>
          <p:cNvPr id="48" name="Text 46"/>
          <p:cNvSpPr/>
          <p:nvPr/>
        </p:nvSpPr>
        <p:spPr>
          <a:xfrm>
            <a:off x="548640" y="5440680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Valor total del roadmap: USD 73,000</a:t>
            </a:r>
            <a:endParaRPr lang="en-US" sz="1300" dirty="0"/>
          </a:p>
        </p:txBody>
      </p:sp>
      <p:sp>
        <p:nvSpPr>
          <p:cNvPr id="49" name="Text 47"/>
          <p:cNvSpPr/>
          <p:nvPr/>
        </p:nvSpPr>
        <p:spPr>
          <a:xfrm>
            <a:off x="8074152" y="544068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5F5F5"/>
                </a:solidFill>
              </a:rPr>
              <a:t>6 iniciativas · 3 fases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0C1A2E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NEXOSTRAT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11480" y="640080"/>
            <a:ext cx="1136599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C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Propuesta comercial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11480" y="1234440"/>
            <a:ext cx="113659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Cómo avanzar juntos al Ciclo 2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D1D5DB"/>
          </a:solidFill>
          <a:ln/>
        </p:spPr>
      </p:sp>
      <p:sp>
        <p:nvSpPr>
          <p:cNvPr id="7" name="Text 5"/>
          <p:cNvSpPr/>
          <p:nvPr/>
        </p:nvSpPr>
        <p:spPr>
          <a:xfrm>
            <a:off x="274320" y="65379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Grupo Trixx · 28 de mayo de 2026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9445752" y="653796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nexostrat.co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11480" y="1691640"/>
            <a:ext cx="11365992" cy="640080"/>
          </a:xfrm>
          <a:prstGeom prst="rect">
            <a:avLst/>
          </a:prstGeom>
          <a:solidFill>
            <a:srgbClr val="F0FBFF"/>
          </a:solidFill>
          <a:ln w="12700">
            <a:solidFill>
              <a:srgbClr val="E0F2F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173736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Valor total del roadmap completo (referencia):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48640" y="1984248"/>
            <a:ext cx="36576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C1A2E"/>
                </a:solidFill>
              </a:rPr>
              <a:t>USD 73,000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4389120" y="2039112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6 iniciativas · 3 fases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11480" y="2404872"/>
            <a:ext cx="113659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</a:rPr>
              <a:t>↓ Iniciativa de entrada sugerida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11480" y="2715768"/>
            <a:ext cx="6251296" cy="1371600"/>
          </a:xfrm>
          <a:prstGeom prst="rect">
            <a:avLst/>
          </a:prstGeom>
          <a:solidFill>
            <a:srgbClr val="ECFDF5"/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2770632"/>
            <a:ext cx="60226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C1A2E"/>
                </a:solidFill>
              </a:rPr>
              <a:t>⚡ Asistente de WhatsApp que organiza la información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48640" y="3172968"/>
            <a:ext cx="602269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</a:rPr>
              <a:t>Un asistente inteligente conectado a los grupos de WhatsApp de Trixx que lee todos los mensajes, distingue lo importante de lo accesorio, y extrae los datos de fotos, PDF, Excel y hasta cuadros escritos a mano. Esa información se organiza sola en el documento central y genera alertas (mantenimiento por vencer, contenedor con muchos días en puerto, vencimientos, presupuestos). El equipo sigue trabajando en WhatsApp exactamente como hoy.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799936" y="2715768"/>
            <a:ext cx="4773717" cy="1371600"/>
          </a:xfrm>
          <a:prstGeom prst="rect">
            <a:avLst/>
          </a:prstGeom>
          <a:solidFill>
            <a:srgbClr val="0C1A2E"/>
          </a:solidFill>
          <a:ln/>
        </p:spPr>
      </p:sp>
      <p:sp>
        <p:nvSpPr>
          <p:cNvPr id="18" name="Text 16"/>
          <p:cNvSpPr/>
          <p:nvPr/>
        </p:nvSpPr>
        <p:spPr>
          <a:xfrm>
            <a:off x="6937096" y="2788920"/>
            <a:ext cx="4499397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F5F5"/>
                </a:solidFill>
              </a:rPr>
              <a:t>Inversión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937096" y="3081528"/>
            <a:ext cx="4499397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59E0B"/>
                </a:solidFill>
              </a:rPr>
              <a:t>USD 10,000 – 15,000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6937096" y="3493008"/>
            <a:ext cx="4499397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5F5F5"/>
                </a:solidFill>
              </a:rPr>
              <a:t>+ USD 150/mes infraestructura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937096" y="3721608"/>
            <a:ext cx="4499397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0B981"/>
                </a:solidFill>
              </a:rPr>
              <a:t>1 mes de garantía incluido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11480" y="4206240"/>
            <a:ext cx="11365992" cy="548640"/>
          </a:xfrm>
          <a:prstGeom prst="rect">
            <a:avLst/>
          </a:prstGeom>
          <a:solidFill>
            <a:srgbClr val="F5F5F5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8640" y="4233672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C1A2E"/>
                </a:solidFill>
              </a:rPr>
              <a:t>Estructura de pago: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2606040" y="4270248"/>
            <a:ext cx="91714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</a:rPr>
              <a:t>Upfront al confirmar  +  Saldo a la entrega final.  Solo pagas el total cuando ves el resultado funcionando.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0C1A2E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NEXOSTRAT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11480" y="640080"/>
            <a:ext cx="1136599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C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Próximos pasos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11480" y="1234440"/>
            <a:ext cx="113659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¿Cómo avanzamos?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D1D5DB"/>
          </a:solidFill>
          <a:ln/>
        </p:spPr>
      </p:sp>
      <p:sp>
        <p:nvSpPr>
          <p:cNvPr id="7" name="Text 5"/>
          <p:cNvSpPr/>
          <p:nvPr/>
        </p:nvSpPr>
        <p:spPr>
          <a:xfrm>
            <a:off x="274320" y="65379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Grupo Trixx · 28 de mayo de 2026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9445752" y="653796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nexostrat.co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57200" y="1691640"/>
            <a:ext cx="2708910" cy="3291840"/>
          </a:xfrm>
          <a:prstGeom prst="rect">
            <a:avLst/>
          </a:prstGeom>
          <a:solidFill>
            <a:srgbClr val="F5F5F5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1691640"/>
            <a:ext cx="2708910" cy="36576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1" name="Shape 9"/>
          <p:cNvSpPr/>
          <p:nvPr/>
        </p:nvSpPr>
        <p:spPr>
          <a:xfrm>
            <a:off x="566928" y="1828800"/>
            <a:ext cx="914400" cy="246888"/>
          </a:xfrm>
          <a:prstGeom prst="rect">
            <a:avLst/>
          </a:prstGeom>
          <a:solidFill>
            <a:srgbClr val="F0FBFF"/>
          </a:solidFill>
          <a:ln w="12700">
            <a:solidFill>
              <a:srgbClr val="E0F2F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1828800"/>
            <a:ext cx="9144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C1A2E"/>
                </a:solidFill>
              </a:rPr>
              <a:t>Hoy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560195" y="2194560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📄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548640" y="2743200"/>
            <a:ext cx="252603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C1A2E"/>
                </a:solidFill>
              </a:rPr>
              <a:t>Recibes el documento completo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548640" y="3291840"/>
            <a:ext cx="2526030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937"/>
                </a:solidFill>
              </a:rPr>
              <a:t>Te enviamos el PDF con todo el análisis para que puedas revisarlo con calma, compartirlo con tu equipo y resolver cualquier pregunta.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166110" y="3337560"/>
            <a:ext cx="137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B7280"/>
                </a:solidFill>
              </a:rPr>
              <a:t>→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3275838" y="1691640"/>
            <a:ext cx="2708910" cy="3291840"/>
          </a:xfrm>
          <a:prstGeom prst="rect">
            <a:avLst/>
          </a:prstGeom>
          <a:solidFill>
            <a:srgbClr val="F5F5F5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275838" y="1691640"/>
            <a:ext cx="2708910" cy="36576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9" name="Shape 17"/>
          <p:cNvSpPr/>
          <p:nvPr/>
        </p:nvSpPr>
        <p:spPr>
          <a:xfrm>
            <a:off x="3385566" y="1828800"/>
            <a:ext cx="914400" cy="246888"/>
          </a:xfrm>
          <a:prstGeom prst="rect">
            <a:avLst/>
          </a:prstGeom>
          <a:solidFill>
            <a:srgbClr val="F0FBFF"/>
          </a:solidFill>
          <a:ln w="12700">
            <a:solidFill>
              <a:srgbClr val="E0F2F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385566" y="1828800"/>
            <a:ext cx="9144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C1A2E"/>
                </a:solidFill>
              </a:rPr>
              <a:t>Tú decides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378833" y="2194560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✅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3367278" y="2743200"/>
            <a:ext cx="252603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C1A2E"/>
                </a:solidFill>
              </a:rPr>
              <a:t>Nos dices cómo seguir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3367278" y="3291840"/>
            <a:ext cx="2526030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937"/>
                </a:solidFill>
              </a:rPr>
              <a:t>Qué cambiarías, qué esperabas ver, qué iniciativas quieres perseguir. Una vez tomas tu decisión, nos informas.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984748" y="3337560"/>
            <a:ext cx="137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B7280"/>
                </a:solidFill>
              </a:rPr>
              <a:t>→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6094476" y="1691640"/>
            <a:ext cx="2708910" cy="3291840"/>
          </a:xfrm>
          <a:prstGeom prst="rect">
            <a:avLst/>
          </a:prstGeom>
          <a:solidFill>
            <a:srgbClr val="F5F5F5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094476" y="1691640"/>
            <a:ext cx="2708910" cy="36576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7" name="Shape 25"/>
          <p:cNvSpPr/>
          <p:nvPr/>
        </p:nvSpPr>
        <p:spPr>
          <a:xfrm>
            <a:off x="6204204" y="1828800"/>
            <a:ext cx="914400" cy="246888"/>
          </a:xfrm>
          <a:prstGeom prst="rect">
            <a:avLst/>
          </a:prstGeom>
          <a:solidFill>
            <a:srgbClr val="F0FBFF"/>
          </a:solidFill>
          <a:ln w="12700">
            <a:solidFill>
              <a:srgbClr val="E0F2F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204204" y="1828800"/>
            <a:ext cx="9144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C1A2E"/>
                </a:solidFill>
              </a:rPr>
              <a:t>Primer pago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7197471" y="2194560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💳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6185916" y="2743200"/>
            <a:ext cx="252603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C1A2E"/>
                </a:solidFill>
              </a:rPr>
              <a:t>Arrancamos el Ciclo 2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6185916" y="3291840"/>
            <a:ext cx="2526030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937"/>
                </a:solidFill>
              </a:rPr>
              <a:t>Con el upfront confirmado iniciamos: Entendimiento → Diseño → Validación → Construcción → Pruebas → Ajustes → Implementación → Garantía 1 mes.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8803386" y="3337560"/>
            <a:ext cx="137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B7280"/>
                </a:solidFill>
              </a:rPr>
              <a:t>→</a:t>
            </a:r>
            <a:endParaRPr lang="en-US" sz="1800" dirty="0"/>
          </a:p>
        </p:txBody>
      </p:sp>
      <p:sp>
        <p:nvSpPr>
          <p:cNvPr id="33" name="Shape 31"/>
          <p:cNvSpPr/>
          <p:nvPr/>
        </p:nvSpPr>
        <p:spPr>
          <a:xfrm>
            <a:off x="8913114" y="1691640"/>
            <a:ext cx="2708910" cy="3291840"/>
          </a:xfrm>
          <a:prstGeom prst="rect">
            <a:avLst/>
          </a:prstGeom>
          <a:solidFill>
            <a:srgbClr val="F5F5F5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913114" y="1691640"/>
            <a:ext cx="2708910" cy="36576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5" name="Shape 33"/>
          <p:cNvSpPr/>
          <p:nvPr/>
        </p:nvSpPr>
        <p:spPr>
          <a:xfrm>
            <a:off x="9022842" y="1828800"/>
            <a:ext cx="914400" cy="246888"/>
          </a:xfrm>
          <a:prstGeom prst="rect">
            <a:avLst/>
          </a:prstGeom>
          <a:solidFill>
            <a:srgbClr val="F0FBFF"/>
          </a:solidFill>
          <a:ln w="12700">
            <a:solidFill>
              <a:srgbClr val="E0F2F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022842" y="1828800"/>
            <a:ext cx="9144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C1A2E"/>
                </a:solidFill>
              </a:rPr>
              <a:t>Resultado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0016109" y="2194560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🚀</a:t>
            </a:r>
            <a:endParaRPr lang="en-US" sz="2200" dirty="0"/>
          </a:p>
        </p:txBody>
      </p:sp>
      <p:sp>
        <p:nvSpPr>
          <p:cNvPr id="38" name="Text 36"/>
          <p:cNvSpPr/>
          <p:nvPr/>
        </p:nvSpPr>
        <p:spPr>
          <a:xfrm>
            <a:off x="9004554" y="2743200"/>
            <a:ext cx="252603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C1A2E"/>
                </a:solidFill>
              </a:rPr>
              <a:t>Solución en producción</a:t>
            </a:r>
            <a:endParaRPr lang="en-US" sz="1150" dirty="0"/>
          </a:p>
        </p:txBody>
      </p:sp>
      <p:sp>
        <p:nvSpPr>
          <p:cNvPr id="39" name="Text 37"/>
          <p:cNvSpPr/>
          <p:nvPr/>
        </p:nvSpPr>
        <p:spPr>
          <a:xfrm>
            <a:off x="9004554" y="3291840"/>
            <a:ext cx="2526030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937"/>
                </a:solidFill>
              </a:rPr>
              <a:t>La solución queda funcionando en tu empresa. El equipo la usa desde el día uno. El saldo se paga a la entrega.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11480" y="5120640"/>
            <a:ext cx="11365992" cy="594360"/>
          </a:xfrm>
          <a:prstGeom prst="rect">
            <a:avLst/>
          </a:prstGeom>
          <a:solidFill>
            <a:srgbClr val="0C1A2E"/>
          </a:solidFill>
          <a:ln/>
        </p:spPr>
      </p:sp>
      <p:sp>
        <p:nvSpPr>
          <p:cNvPr id="41" name="Text 39"/>
          <p:cNvSpPr/>
          <p:nvPr/>
        </p:nvSpPr>
        <p:spPr>
          <a:xfrm>
            <a:off x="548640" y="5148072"/>
            <a:ext cx="92628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¿Arrancamos con el asistente de WhatsApp? En 3-4 semanas su equipo sigue trabajando igual, pero la información deja de perderse y empiezan a ver el orden.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7434072" y="5148072"/>
            <a:ext cx="4343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5F5F5"/>
                </a:solidFill>
              </a:rPr>
              <a:t>Ricardo Mejía  ·  [correo por confirmar]  ·  [WhatsApp por confirmar]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2026-05-29T02:53:47Z</dcterms:created>
  <dcterms:modified xsi:type="dcterms:W3CDTF">2026-05-29T02:53:47Z</dcterms:modified>
</cp:coreProperties>
</file>