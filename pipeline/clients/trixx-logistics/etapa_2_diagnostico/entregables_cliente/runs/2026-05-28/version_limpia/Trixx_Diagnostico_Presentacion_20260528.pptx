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C1A2E"/>
          </a:solidFill>
          <a:ln/>
        </p:spPr>
      </p:sp>
      <p:sp>
        <p:nvSpPr>
          <p:cNvPr id="3" name="Shape 1"/>
          <p:cNvSpPr/>
          <p:nvPr/>
        </p:nvSpPr>
        <p:spPr>
          <a:xfrm>
            <a:off x="0" y="0"/>
            <a:ext cx="228600" cy="6858000"/>
          </a:xfrm>
          <a:prstGeom prst="rect">
            <a:avLst/>
          </a:prstGeom>
          <a:solidFill>
            <a:srgbClr val="10B981"/>
          </a:solidFill>
          <a:ln/>
        </p:spPr>
      </p:sp>
      <p:sp>
        <p:nvSpPr>
          <p:cNvPr id="4" name="Text 2"/>
          <p:cNvSpPr/>
          <p:nvPr/>
        </p:nvSpPr>
        <p:spPr>
          <a:xfrm>
            <a:off x="548640" y="1371600"/>
            <a:ext cx="11091672" cy="731520"/>
          </a:xfrm>
          <a:prstGeom prst="rect">
            <a:avLst/>
          </a:prstGeom>
          <a:noFill/>
          <a:ln/>
        </p:spPr>
        <p:txBody>
          <a:bodyPr wrap="square" rtlCol="0" anchor="ctr"/>
          <a:lstStyle/>
          <a:p>
            <a:pPr indent="0" marL="0">
              <a:buNone/>
            </a:pPr>
            <a:r>
              <a:rPr lang="en-US" sz="3200" b="1" dirty="0">
                <a:solidFill>
                  <a:srgbClr val="F59E0B"/>
                </a:solidFill>
                <a:latin typeface="Inter" pitchFamily="34" charset="0"/>
                <a:ea typeface="Inter" pitchFamily="34" charset="-122"/>
                <a:cs typeface="Inter" pitchFamily="34" charset="-120"/>
              </a:rPr>
              <a:t>GRUPO TRIXX</a:t>
            </a:r>
            <a:endParaRPr lang="en-US" sz="3200" dirty="0"/>
          </a:p>
        </p:txBody>
      </p:sp>
      <p:sp>
        <p:nvSpPr>
          <p:cNvPr id="5" name="Text 3"/>
          <p:cNvSpPr/>
          <p:nvPr/>
        </p:nvSpPr>
        <p:spPr>
          <a:xfrm>
            <a:off x="548640" y="2194560"/>
            <a:ext cx="11091672" cy="1463040"/>
          </a:xfrm>
          <a:prstGeom prst="rect">
            <a:avLst/>
          </a:prstGeom>
          <a:noFill/>
          <a:ln/>
        </p:spPr>
        <p:txBody>
          <a:bodyPr wrap="square" rtlCol="0" anchor="ctr"/>
          <a:lstStyle/>
          <a:p>
            <a:pPr indent="0" marL="0">
              <a:lnSpc>
                <a:spcPct val="120000"/>
              </a:lnSpc>
              <a:buNone/>
            </a:pPr>
            <a:r>
              <a:rPr lang="en-US" sz="4200" b="1" dirty="0">
                <a:solidFill>
                  <a:srgbClr val="FFFFFF"/>
                </a:solidFill>
                <a:latin typeface="Inter" pitchFamily="34" charset="0"/>
                <a:ea typeface="Inter" pitchFamily="34" charset="-122"/>
                <a:cs typeface="Inter" pitchFamily="34" charset="-120"/>
              </a:rPr>
              <a:t>Diagnóstico de</a:t>
            </a:r>
            <a:endParaRPr lang="en-US" sz="4200" dirty="0"/>
          </a:p>
          <a:p>
            <a:pPr indent="0" marL="0">
              <a:lnSpc>
                <a:spcPct val="120000"/>
              </a:lnSpc>
              <a:buNone/>
            </a:pPr>
            <a:r>
              <a:rPr lang="en-US" sz="4200" b="1" dirty="0">
                <a:solidFill>
                  <a:srgbClr val="FFFFFF"/>
                </a:solidFill>
                <a:latin typeface="Inter" pitchFamily="34" charset="0"/>
                <a:ea typeface="Inter" pitchFamily="34" charset="-122"/>
                <a:cs typeface="Inter" pitchFamily="34" charset="-120"/>
              </a:rPr>
              <a:t>Oportunidades de IA</a:t>
            </a:r>
            <a:endParaRPr lang="en-US" sz="4200" dirty="0"/>
          </a:p>
        </p:txBody>
      </p:sp>
      <p:sp>
        <p:nvSpPr>
          <p:cNvPr id="6" name="Shape 4"/>
          <p:cNvSpPr/>
          <p:nvPr/>
        </p:nvSpPr>
        <p:spPr>
          <a:xfrm>
            <a:off x="548640" y="3794760"/>
            <a:ext cx="2286000" cy="36576"/>
          </a:xfrm>
          <a:prstGeom prst="rect">
            <a:avLst/>
          </a:prstGeom>
          <a:solidFill>
            <a:srgbClr val="10B981"/>
          </a:solidFill>
          <a:ln/>
        </p:spPr>
      </p:sp>
      <p:sp>
        <p:nvSpPr>
          <p:cNvPr id="7" name="Text 5"/>
          <p:cNvSpPr/>
          <p:nvPr/>
        </p:nvSpPr>
        <p:spPr>
          <a:xfrm>
            <a:off x="548640" y="3886200"/>
            <a:ext cx="11091672" cy="365760"/>
          </a:xfrm>
          <a:prstGeom prst="rect">
            <a:avLst/>
          </a:prstGeom>
          <a:noFill/>
          <a:ln/>
        </p:spPr>
        <p:txBody>
          <a:bodyPr wrap="square" rtlCol="0" anchor="ctr"/>
          <a:lstStyle/>
          <a:p>
            <a:pPr indent="0" marL="0">
              <a:buNone/>
            </a:pPr>
            <a:r>
              <a:rPr lang="en-US" sz="1400" dirty="0">
                <a:solidFill>
                  <a:srgbClr val="F5F5F5"/>
                </a:solidFill>
                <a:latin typeface="Inter" pitchFamily="34" charset="0"/>
                <a:ea typeface="Inter" pitchFamily="34" charset="-122"/>
                <a:cs typeface="Inter" pitchFamily="34" charset="-120"/>
              </a:rPr>
              <a:t>Ciclo 1 — Resultados del Diagnóstico</a:t>
            </a:r>
            <a:endParaRPr lang="en-US" sz="1400" dirty="0"/>
          </a:p>
        </p:txBody>
      </p:sp>
      <p:sp>
        <p:nvSpPr>
          <p:cNvPr id="8" name="Text 6"/>
          <p:cNvSpPr/>
          <p:nvPr/>
        </p:nvSpPr>
        <p:spPr>
          <a:xfrm>
            <a:off x="548640" y="4343400"/>
            <a:ext cx="11091672" cy="320040"/>
          </a:xfrm>
          <a:prstGeom prst="rect">
            <a:avLst/>
          </a:prstGeom>
          <a:noFill/>
          <a:ln/>
        </p:spPr>
        <p:txBody>
          <a:bodyPr wrap="square" rtlCol="0" anchor="ctr"/>
          <a:lstStyle/>
          <a:p>
            <a:pPr indent="0" marL="0">
              <a:buNone/>
            </a:pPr>
            <a:r>
              <a:rPr lang="en-US" sz="1200" dirty="0">
                <a:solidFill>
                  <a:srgbClr val="6B7280"/>
                </a:solidFill>
                <a:latin typeface="Inter" pitchFamily="34" charset="0"/>
                <a:ea typeface="Inter" pitchFamily="34" charset="-122"/>
                <a:cs typeface="Inter" pitchFamily="34" charset="-120"/>
              </a:rPr>
              <a:t>Preparado por Ricardo Mejía · 28 de mayo de 2026</a:t>
            </a:r>
            <a:endParaRPr lang="en-US" sz="1200" dirty="0"/>
          </a:p>
        </p:txBody>
      </p:sp>
      <p:sp>
        <p:nvSpPr>
          <p:cNvPr id="9" name="Text 7"/>
          <p:cNvSpPr/>
          <p:nvPr/>
        </p:nvSpPr>
        <p:spPr>
          <a:xfrm>
            <a:off x="548640" y="4709160"/>
            <a:ext cx="11091672" cy="274320"/>
          </a:xfrm>
          <a:prstGeom prst="rect">
            <a:avLst/>
          </a:prstGeom>
          <a:noFill/>
          <a:ln/>
        </p:spPr>
        <p:txBody>
          <a:bodyPr wrap="square" rtlCol="0" anchor="ctr"/>
          <a:lstStyle/>
          <a:p>
            <a:pPr indent="0" marL="0">
              <a:buNone/>
            </a:pPr>
            <a:r>
              <a:rPr lang="en-US" sz="1100" dirty="0">
                <a:solidFill>
                  <a:srgbClr val="6B7280"/>
                </a:solidFill>
                <a:latin typeface="Inter" pitchFamily="34" charset="0"/>
                <a:ea typeface="Inter" pitchFamily="34" charset="-122"/>
                <a:cs typeface="Inter" pitchFamily="34" charset="-120"/>
              </a:rPr>
              <a:t>contacto@nexostrat.com  ·  +57 333 286 3963</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88952" cy="502920"/>
          </a:xfrm>
          <a:prstGeom prst="rect">
            <a:avLst/>
          </a:prstGeom>
          <a:solidFill>
            <a:srgbClr val="0C1A2E"/>
          </a:solidFill>
          <a:ln/>
        </p:spPr>
      </p:sp>
      <p:sp>
        <p:nvSpPr>
          <p:cNvPr id="3" name="Text 1"/>
          <p:cNvSpPr/>
          <p:nvPr/>
        </p:nvSpPr>
        <p:spPr>
          <a:xfrm>
            <a:off x="274320" y="0"/>
            <a:ext cx="2743200" cy="502920"/>
          </a:xfrm>
          <a:prstGeom prst="rect">
            <a:avLst/>
          </a:prstGeom>
          <a:noFill/>
          <a:ln/>
        </p:spPr>
        <p:txBody>
          <a:bodyPr wrap="square" rtlCol="0" anchor="ctr"/>
          <a:lstStyle/>
          <a:p>
            <a:pPr indent="0" marL="0">
              <a:buNone/>
            </a:pPr>
            <a:r>
              <a:rPr lang="en-US" sz="1100" b="1" dirty="0">
                <a:solidFill>
                  <a:srgbClr val="FFFFFF"/>
                </a:solidFill>
              </a:rPr>
              <a:t>NEXOSTRAT</a:t>
            </a:r>
            <a:endParaRPr lang="en-US" sz="1100" dirty="0"/>
          </a:p>
        </p:txBody>
      </p:sp>
      <p:sp>
        <p:nvSpPr>
          <p:cNvPr id="4" name="Text 2"/>
          <p:cNvSpPr/>
          <p:nvPr/>
        </p:nvSpPr>
        <p:spPr>
          <a:xfrm>
            <a:off x="411480" y="640080"/>
            <a:ext cx="11365992" cy="594360"/>
          </a:xfrm>
          <a:prstGeom prst="rect">
            <a:avLst/>
          </a:prstGeom>
          <a:noFill/>
          <a:ln/>
        </p:spPr>
        <p:txBody>
          <a:bodyPr wrap="square" rtlCol="0" anchor="ctr"/>
          <a:lstStyle/>
          <a:p>
            <a:pPr indent="0" marL="0">
              <a:buNone/>
            </a:pPr>
            <a:r>
              <a:rPr lang="en-US" sz="2800" b="1" dirty="0">
                <a:solidFill>
                  <a:srgbClr val="0C1A2E"/>
                </a:solidFill>
                <a:latin typeface="Inter" pitchFamily="34" charset="0"/>
                <a:ea typeface="Inter" pitchFamily="34" charset="-122"/>
                <a:cs typeface="Inter" pitchFamily="34" charset="-120"/>
              </a:rPr>
              <a:t>Cómo llegamos a estas conclusiones</a:t>
            </a:r>
            <a:endParaRPr lang="en-US" sz="2800" dirty="0"/>
          </a:p>
        </p:txBody>
      </p:sp>
      <p:sp>
        <p:nvSpPr>
          <p:cNvPr id="5" name="Text 3"/>
          <p:cNvSpPr/>
          <p:nvPr/>
        </p:nvSpPr>
        <p:spPr>
          <a:xfrm>
            <a:off x="411480" y="1234440"/>
            <a:ext cx="11365992" cy="320040"/>
          </a:xfrm>
          <a:prstGeom prst="rect">
            <a:avLst/>
          </a:prstGeom>
          <a:noFill/>
          <a:ln/>
        </p:spPr>
        <p:txBody>
          <a:bodyPr wrap="square" rtlCol="0" anchor="ctr"/>
          <a:lstStyle/>
          <a:p>
            <a:pPr indent="0" marL="0">
              <a:buNone/>
            </a:pPr>
            <a:r>
              <a:rPr lang="en-US" sz="1300" dirty="0">
                <a:solidFill>
                  <a:srgbClr val="6B7280"/>
                </a:solidFill>
                <a:latin typeface="Inter" pitchFamily="34" charset="0"/>
                <a:ea typeface="Inter" pitchFamily="34" charset="-122"/>
                <a:cs typeface="Inter" pitchFamily="34" charset="-120"/>
              </a:rPr>
              <a:t>Metodología del diagnóstico</a:t>
            </a:r>
            <a:endParaRPr lang="en-US" sz="1300" dirty="0"/>
          </a:p>
        </p:txBody>
      </p:sp>
      <p:sp>
        <p:nvSpPr>
          <p:cNvPr id="6" name="Shape 4"/>
          <p:cNvSpPr/>
          <p:nvPr/>
        </p:nvSpPr>
        <p:spPr>
          <a:xfrm>
            <a:off x="0" y="6537960"/>
            <a:ext cx="12188952" cy="320040"/>
          </a:xfrm>
          <a:prstGeom prst="rect">
            <a:avLst/>
          </a:prstGeom>
          <a:solidFill>
            <a:srgbClr val="D1D5DB"/>
          </a:solidFill>
          <a:ln/>
        </p:spPr>
      </p:sp>
      <p:sp>
        <p:nvSpPr>
          <p:cNvPr id="7" name="Text 5"/>
          <p:cNvSpPr/>
          <p:nvPr/>
        </p:nvSpPr>
        <p:spPr>
          <a:xfrm>
            <a:off x="274320" y="6537960"/>
            <a:ext cx="5486400" cy="320040"/>
          </a:xfrm>
          <a:prstGeom prst="rect">
            <a:avLst/>
          </a:prstGeom>
          <a:noFill/>
          <a:ln/>
        </p:spPr>
        <p:txBody>
          <a:bodyPr wrap="square" rtlCol="0" anchor="ctr"/>
          <a:lstStyle/>
          <a:p>
            <a:pPr indent="0" marL="0">
              <a:buNone/>
            </a:pPr>
            <a:r>
              <a:rPr lang="en-US" sz="900" dirty="0">
                <a:solidFill>
                  <a:srgbClr val="6B7280"/>
                </a:solidFill>
              </a:rPr>
              <a:t>Grupo Trixx · 28 de mayo de 2026</a:t>
            </a:r>
            <a:endParaRPr lang="en-US" sz="900" dirty="0"/>
          </a:p>
        </p:txBody>
      </p:sp>
      <p:sp>
        <p:nvSpPr>
          <p:cNvPr id="8" name="Text 6"/>
          <p:cNvSpPr/>
          <p:nvPr/>
        </p:nvSpPr>
        <p:spPr>
          <a:xfrm>
            <a:off x="9445752" y="6537960"/>
            <a:ext cx="2468880" cy="320040"/>
          </a:xfrm>
          <a:prstGeom prst="rect">
            <a:avLst/>
          </a:prstGeom>
          <a:noFill/>
          <a:ln/>
        </p:spPr>
        <p:txBody>
          <a:bodyPr wrap="square" rtlCol="0" anchor="ctr"/>
          <a:lstStyle/>
          <a:p>
            <a:pPr algn="r" indent="0" marL="0">
              <a:buNone/>
            </a:pPr>
            <a:r>
              <a:rPr lang="en-US" sz="900" dirty="0">
                <a:solidFill>
                  <a:srgbClr val="6B7280"/>
                </a:solidFill>
              </a:rPr>
              <a:t>nexostrat.co</a:t>
            </a:r>
            <a:endParaRPr lang="en-US" sz="900" dirty="0"/>
          </a:p>
        </p:txBody>
      </p:sp>
      <p:sp>
        <p:nvSpPr>
          <p:cNvPr id="9" name="Shape 7"/>
          <p:cNvSpPr/>
          <p:nvPr/>
        </p:nvSpPr>
        <p:spPr>
          <a:xfrm>
            <a:off x="457200" y="1691640"/>
            <a:ext cx="2727198" cy="3200400"/>
          </a:xfrm>
          <a:prstGeom prst="rect">
            <a:avLst/>
          </a:prstGeom>
          <a:solidFill>
            <a:srgbClr val="F5F5F5"/>
          </a:solidFill>
          <a:ln w="12700">
            <a:solidFill>
              <a:srgbClr val="D1D5DB"/>
            </a:solidFill>
            <a:prstDash val="solid"/>
          </a:ln>
        </p:spPr>
      </p:sp>
      <p:sp>
        <p:nvSpPr>
          <p:cNvPr id="10" name="Shape 8"/>
          <p:cNvSpPr/>
          <p:nvPr/>
        </p:nvSpPr>
        <p:spPr>
          <a:xfrm>
            <a:off x="1546479" y="1920240"/>
            <a:ext cx="548640" cy="548640"/>
          </a:xfrm>
          <a:prstGeom prst="ellipse">
            <a:avLst/>
          </a:prstGeom>
          <a:solidFill>
            <a:srgbClr val="0C1A2E"/>
          </a:solidFill>
          <a:ln/>
        </p:spPr>
      </p:sp>
      <p:sp>
        <p:nvSpPr>
          <p:cNvPr id="11" name="Text 9"/>
          <p:cNvSpPr/>
          <p:nvPr/>
        </p:nvSpPr>
        <p:spPr>
          <a:xfrm>
            <a:off x="1546479" y="1920240"/>
            <a:ext cx="548640" cy="548640"/>
          </a:xfrm>
          <a:prstGeom prst="rect">
            <a:avLst/>
          </a:prstGeom>
          <a:noFill/>
          <a:ln/>
        </p:spPr>
        <p:txBody>
          <a:bodyPr wrap="square" rtlCol="0" anchor="ctr"/>
          <a:lstStyle/>
          <a:p>
            <a:pPr algn="ctr" indent="0" marL="0">
              <a:buNone/>
            </a:pPr>
            <a:r>
              <a:rPr lang="en-US" sz="1600" b="1" dirty="0">
                <a:solidFill>
                  <a:srgbClr val="FFFFFF"/>
                </a:solidFill>
              </a:rPr>
              <a:t>1</a:t>
            </a:r>
            <a:endParaRPr lang="en-US" sz="1600" dirty="0"/>
          </a:p>
        </p:txBody>
      </p:sp>
      <p:sp>
        <p:nvSpPr>
          <p:cNvPr id="12" name="Text 10"/>
          <p:cNvSpPr/>
          <p:nvPr/>
        </p:nvSpPr>
        <p:spPr>
          <a:xfrm>
            <a:off x="594360" y="2651760"/>
            <a:ext cx="2498598" cy="502920"/>
          </a:xfrm>
          <a:prstGeom prst="rect">
            <a:avLst/>
          </a:prstGeom>
          <a:noFill/>
          <a:ln/>
        </p:spPr>
        <p:txBody>
          <a:bodyPr wrap="square" rtlCol="0" anchor="ctr"/>
          <a:lstStyle/>
          <a:p>
            <a:pPr algn="ctr" indent="0" marL="0">
              <a:buNone/>
            </a:pPr>
            <a:r>
              <a:rPr lang="en-US" sz="1300" b="1" dirty="0">
                <a:solidFill>
                  <a:srgbClr val="0C1A2E"/>
                </a:solidFill>
              </a:rPr>
              <a:t>Análisis de empresa</a:t>
            </a:r>
            <a:endParaRPr lang="en-US" sz="1300" dirty="0"/>
          </a:p>
        </p:txBody>
      </p:sp>
      <p:sp>
        <p:nvSpPr>
          <p:cNvPr id="13" name="Text 11"/>
          <p:cNvSpPr/>
          <p:nvPr/>
        </p:nvSpPr>
        <p:spPr>
          <a:xfrm>
            <a:off x="594360" y="3200400"/>
            <a:ext cx="2498598" cy="1463040"/>
          </a:xfrm>
          <a:prstGeom prst="rect">
            <a:avLst/>
          </a:prstGeom>
          <a:noFill/>
          <a:ln/>
        </p:spPr>
        <p:txBody>
          <a:bodyPr wrap="square" rtlCol="0" anchor="t"/>
          <a:lstStyle/>
          <a:p>
            <a:pPr algn="ctr" indent="0" marL="0">
              <a:buNone/>
            </a:pPr>
            <a:r>
              <a:rPr lang="en-US" sz="1050" dirty="0">
                <a:solidFill>
                  <a:srgbClr val="1F2937"/>
                </a:solidFill>
              </a:rPr>
              <a:t>Perfil, financieros, tecnología actual, posición en el mercado</a:t>
            </a:r>
            <a:endParaRPr lang="en-US" sz="1050" dirty="0"/>
          </a:p>
        </p:txBody>
      </p:sp>
      <p:sp>
        <p:nvSpPr>
          <p:cNvPr id="14" name="Text 12"/>
          <p:cNvSpPr/>
          <p:nvPr/>
        </p:nvSpPr>
        <p:spPr>
          <a:xfrm>
            <a:off x="3111246" y="3063240"/>
            <a:ext cx="228600" cy="365760"/>
          </a:xfrm>
          <a:prstGeom prst="rect">
            <a:avLst/>
          </a:prstGeom>
          <a:noFill/>
          <a:ln/>
        </p:spPr>
        <p:txBody>
          <a:bodyPr wrap="square" rtlCol="0" anchor="ctr"/>
          <a:lstStyle/>
          <a:p>
            <a:pPr algn="ctr" indent="0" marL="0">
              <a:buNone/>
            </a:pPr>
            <a:r>
              <a:rPr lang="en-US" sz="1800" b="1" dirty="0">
                <a:solidFill>
                  <a:srgbClr val="10B981"/>
                </a:solidFill>
              </a:rPr>
              <a:t>→</a:t>
            </a:r>
            <a:endParaRPr lang="en-US" sz="1800" dirty="0"/>
          </a:p>
        </p:txBody>
      </p:sp>
      <p:sp>
        <p:nvSpPr>
          <p:cNvPr id="15" name="Shape 13"/>
          <p:cNvSpPr/>
          <p:nvPr/>
        </p:nvSpPr>
        <p:spPr>
          <a:xfrm>
            <a:off x="3275838" y="1691640"/>
            <a:ext cx="2727198" cy="3200400"/>
          </a:xfrm>
          <a:prstGeom prst="rect">
            <a:avLst/>
          </a:prstGeom>
          <a:solidFill>
            <a:srgbClr val="F5F5F5"/>
          </a:solidFill>
          <a:ln w="12700">
            <a:solidFill>
              <a:srgbClr val="D1D5DB"/>
            </a:solidFill>
            <a:prstDash val="solid"/>
          </a:ln>
        </p:spPr>
      </p:sp>
      <p:sp>
        <p:nvSpPr>
          <p:cNvPr id="16" name="Shape 14"/>
          <p:cNvSpPr/>
          <p:nvPr/>
        </p:nvSpPr>
        <p:spPr>
          <a:xfrm>
            <a:off x="4365117" y="1920240"/>
            <a:ext cx="548640" cy="548640"/>
          </a:xfrm>
          <a:prstGeom prst="ellipse">
            <a:avLst/>
          </a:prstGeom>
          <a:solidFill>
            <a:srgbClr val="0C1A2E"/>
          </a:solidFill>
          <a:ln/>
        </p:spPr>
      </p:sp>
      <p:sp>
        <p:nvSpPr>
          <p:cNvPr id="17" name="Text 15"/>
          <p:cNvSpPr/>
          <p:nvPr/>
        </p:nvSpPr>
        <p:spPr>
          <a:xfrm>
            <a:off x="4365117" y="1920240"/>
            <a:ext cx="548640" cy="548640"/>
          </a:xfrm>
          <a:prstGeom prst="rect">
            <a:avLst/>
          </a:prstGeom>
          <a:noFill/>
          <a:ln/>
        </p:spPr>
        <p:txBody>
          <a:bodyPr wrap="square" rtlCol="0" anchor="ctr"/>
          <a:lstStyle/>
          <a:p>
            <a:pPr algn="ctr" indent="0" marL="0">
              <a:buNone/>
            </a:pPr>
            <a:r>
              <a:rPr lang="en-US" sz="1600" b="1" dirty="0">
                <a:solidFill>
                  <a:srgbClr val="FFFFFF"/>
                </a:solidFill>
              </a:rPr>
              <a:t>2</a:t>
            </a:r>
            <a:endParaRPr lang="en-US" sz="1600" dirty="0"/>
          </a:p>
        </p:txBody>
      </p:sp>
      <p:sp>
        <p:nvSpPr>
          <p:cNvPr id="18" name="Text 16"/>
          <p:cNvSpPr/>
          <p:nvPr/>
        </p:nvSpPr>
        <p:spPr>
          <a:xfrm>
            <a:off x="3412998" y="2651760"/>
            <a:ext cx="2498598" cy="502920"/>
          </a:xfrm>
          <a:prstGeom prst="rect">
            <a:avLst/>
          </a:prstGeom>
          <a:noFill/>
          <a:ln/>
        </p:spPr>
        <p:txBody>
          <a:bodyPr wrap="square" rtlCol="0" anchor="ctr"/>
          <a:lstStyle/>
          <a:p>
            <a:pPr algn="ctr" indent="0" marL="0">
              <a:buNone/>
            </a:pPr>
            <a:r>
              <a:rPr lang="en-US" sz="1300" b="1" dirty="0">
                <a:solidFill>
                  <a:srgbClr val="0C1A2E"/>
                </a:solidFill>
              </a:rPr>
              <a:t>Análisis de industria</a:t>
            </a:r>
            <a:endParaRPr lang="en-US" sz="1300" dirty="0"/>
          </a:p>
        </p:txBody>
      </p:sp>
      <p:sp>
        <p:nvSpPr>
          <p:cNvPr id="19" name="Text 17"/>
          <p:cNvSpPr/>
          <p:nvPr/>
        </p:nvSpPr>
        <p:spPr>
          <a:xfrm>
            <a:off x="3412998" y="3200400"/>
            <a:ext cx="2498598" cy="1463040"/>
          </a:xfrm>
          <a:prstGeom prst="rect">
            <a:avLst/>
          </a:prstGeom>
          <a:noFill/>
          <a:ln/>
        </p:spPr>
        <p:txBody>
          <a:bodyPr wrap="square" rtlCol="0" anchor="t"/>
          <a:lstStyle/>
          <a:p>
            <a:pPr algn="ctr" indent="0" marL="0">
              <a:buNone/>
            </a:pPr>
            <a:r>
              <a:rPr lang="en-US" sz="1050" dirty="0">
                <a:solidFill>
                  <a:srgbClr val="1F2937"/>
                </a:solidFill>
              </a:rPr>
              <a:t>Tendencias del sector, adopción de IA, benchmarks y oportunidades</a:t>
            </a:r>
            <a:endParaRPr lang="en-US" sz="1050" dirty="0"/>
          </a:p>
        </p:txBody>
      </p:sp>
      <p:sp>
        <p:nvSpPr>
          <p:cNvPr id="20" name="Text 18"/>
          <p:cNvSpPr/>
          <p:nvPr/>
        </p:nvSpPr>
        <p:spPr>
          <a:xfrm>
            <a:off x="5929884" y="3063240"/>
            <a:ext cx="228600" cy="365760"/>
          </a:xfrm>
          <a:prstGeom prst="rect">
            <a:avLst/>
          </a:prstGeom>
          <a:noFill/>
          <a:ln/>
        </p:spPr>
        <p:txBody>
          <a:bodyPr wrap="square" rtlCol="0" anchor="ctr"/>
          <a:lstStyle/>
          <a:p>
            <a:pPr algn="ctr" indent="0" marL="0">
              <a:buNone/>
            </a:pPr>
            <a:r>
              <a:rPr lang="en-US" sz="1800" b="1" dirty="0">
                <a:solidFill>
                  <a:srgbClr val="10B981"/>
                </a:solidFill>
              </a:rPr>
              <a:t>→</a:t>
            </a:r>
            <a:endParaRPr lang="en-US" sz="1800" dirty="0"/>
          </a:p>
        </p:txBody>
      </p:sp>
      <p:sp>
        <p:nvSpPr>
          <p:cNvPr id="21" name="Shape 19"/>
          <p:cNvSpPr/>
          <p:nvPr/>
        </p:nvSpPr>
        <p:spPr>
          <a:xfrm>
            <a:off x="6094476" y="1691640"/>
            <a:ext cx="2727198" cy="3200400"/>
          </a:xfrm>
          <a:prstGeom prst="rect">
            <a:avLst/>
          </a:prstGeom>
          <a:solidFill>
            <a:srgbClr val="F5F5F5"/>
          </a:solidFill>
          <a:ln w="12700">
            <a:solidFill>
              <a:srgbClr val="D1D5DB"/>
            </a:solidFill>
            <a:prstDash val="solid"/>
          </a:ln>
        </p:spPr>
      </p:sp>
      <p:sp>
        <p:nvSpPr>
          <p:cNvPr id="22" name="Shape 20"/>
          <p:cNvSpPr/>
          <p:nvPr/>
        </p:nvSpPr>
        <p:spPr>
          <a:xfrm>
            <a:off x="7183755" y="1920240"/>
            <a:ext cx="548640" cy="548640"/>
          </a:xfrm>
          <a:prstGeom prst="ellipse">
            <a:avLst/>
          </a:prstGeom>
          <a:solidFill>
            <a:srgbClr val="0C1A2E"/>
          </a:solidFill>
          <a:ln/>
        </p:spPr>
      </p:sp>
      <p:sp>
        <p:nvSpPr>
          <p:cNvPr id="23" name="Text 21"/>
          <p:cNvSpPr/>
          <p:nvPr/>
        </p:nvSpPr>
        <p:spPr>
          <a:xfrm>
            <a:off x="7183755" y="1920240"/>
            <a:ext cx="548640" cy="548640"/>
          </a:xfrm>
          <a:prstGeom prst="rect">
            <a:avLst/>
          </a:prstGeom>
          <a:noFill/>
          <a:ln/>
        </p:spPr>
        <p:txBody>
          <a:bodyPr wrap="square" rtlCol="0" anchor="ctr"/>
          <a:lstStyle/>
          <a:p>
            <a:pPr algn="ctr" indent="0" marL="0">
              <a:buNone/>
            </a:pPr>
            <a:r>
              <a:rPr lang="en-US" sz="1600" b="1" dirty="0">
                <a:solidFill>
                  <a:srgbClr val="FFFFFF"/>
                </a:solidFill>
              </a:rPr>
              <a:t>3</a:t>
            </a:r>
            <a:endParaRPr lang="en-US" sz="1600" dirty="0"/>
          </a:p>
        </p:txBody>
      </p:sp>
      <p:sp>
        <p:nvSpPr>
          <p:cNvPr id="24" name="Text 22"/>
          <p:cNvSpPr/>
          <p:nvPr/>
        </p:nvSpPr>
        <p:spPr>
          <a:xfrm>
            <a:off x="6231636" y="2651760"/>
            <a:ext cx="2498598" cy="502920"/>
          </a:xfrm>
          <a:prstGeom prst="rect">
            <a:avLst/>
          </a:prstGeom>
          <a:noFill/>
          <a:ln/>
        </p:spPr>
        <p:txBody>
          <a:bodyPr wrap="square" rtlCol="0" anchor="ctr"/>
          <a:lstStyle/>
          <a:p>
            <a:pPr algn="ctr" indent="0" marL="0">
              <a:buNone/>
            </a:pPr>
            <a:r>
              <a:rPr lang="en-US" sz="1300" b="1" dirty="0">
                <a:solidFill>
                  <a:srgbClr val="0C1A2E"/>
                </a:solidFill>
              </a:rPr>
              <a:t>Análisis competitivo</a:t>
            </a:r>
            <a:endParaRPr lang="en-US" sz="1300" dirty="0"/>
          </a:p>
        </p:txBody>
      </p:sp>
      <p:sp>
        <p:nvSpPr>
          <p:cNvPr id="25" name="Text 23"/>
          <p:cNvSpPr/>
          <p:nvPr/>
        </p:nvSpPr>
        <p:spPr>
          <a:xfrm>
            <a:off x="6231636" y="3200400"/>
            <a:ext cx="2498598" cy="1463040"/>
          </a:xfrm>
          <a:prstGeom prst="rect">
            <a:avLst/>
          </a:prstGeom>
          <a:noFill/>
          <a:ln/>
        </p:spPr>
        <p:txBody>
          <a:bodyPr wrap="square" rtlCol="0" anchor="t"/>
          <a:lstStyle/>
          <a:p>
            <a:pPr algn="ctr" indent="0" marL="0">
              <a:buNone/>
            </a:pPr>
            <a:r>
              <a:rPr lang="en-US" sz="1050" dirty="0">
                <a:solidFill>
                  <a:srgbClr val="1F2937"/>
                </a:solidFill>
              </a:rPr>
              <a:t>Qué están haciendo los competidores, brechas y diferenciadores</a:t>
            </a:r>
            <a:endParaRPr lang="en-US" sz="1050" dirty="0"/>
          </a:p>
        </p:txBody>
      </p:sp>
      <p:sp>
        <p:nvSpPr>
          <p:cNvPr id="26" name="Text 24"/>
          <p:cNvSpPr/>
          <p:nvPr/>
        </p:nvSpPr>
        <p:spPr>
          <a:xfrm>
            <a:off x="8748522" y="3063240"/>
            <a:ext cx="228600" cy="365760"/>
          </a:xfrm>
          <a:prstGeom prst="rect">
            <a:avLst/>
          </a:prstGeom>
          <a:noFill/>
          <a:ln/>
        </p:spPr>
        <p:txBody>
          <a:bodyPr wrap="square" rtlCol="0" anchor="ctr"/>
          <a:lstStyle/>
          <a:p>
            <a:pPr algn="ctr" indent="0" marL="0">
              <a:buNone/>
            </a:pPr>
            <a:r>
              <a:rPr lang="en-US" sz="1800" b="1" dirty="0">
                <a:solidFill>
                  <a:srgbClr val="10B981"/>
                </a:solidFill>
              </a:rPr>
              <a:t>→</a:t>
            </a:r>
            <a:endParaRPr lang="en-US" sz="1800" dirty="0"/>
          </a:p>
        </p:txBody>
      </p:sp>
      <p:sp>
        <p:nvSpPr>
          <p:cNvPr id="27" name="Shape 25"/>
          <p:cNvSpPr/>
          <p:nvPr/>
        </p:nvSpPr>
        <p:spPr>
          <a:xfrm>
            <a:off x="8913114" y="1691640"/>
            <a:ext cx="2727198" cy="3200400"/>
          </a:xfrm>
          <a:prstGeom prst="rect">
            <a:avLst/>
          </a:prstGeom>
          <a:solidFill>
            <a:srgbClr val="F5F5F5"/>
          </a:solidFill>
          <a:ln w="12700">
            <a:solidFill>
              <a:srgbClr val="D1D5DB"/>
            </a:solidFill>
            <a:prstDash val="solid"/>
          </a:ln>
        </p:spPr>
      </p:sp>
      <p:sp>
        <p:nvSpPr>
          <p:cNvPr id="28" name="Shape 26"/>
          <p:cNvSpPr/>
          <p:nvPr/>
        </p:nvSpPr>
        <p:spPr>
          <a:xfrm>
            <a:off x="10002393" y="1920240"/>
            <a:ext cx="548640" cy="548640"/>
          </a:xfrm>
          <a:prstGeom prst="ellipse">
            <a:avLst/>
          </a:prstGeom>
          <a:solidFill>
            <a:srgbClr val="0C1A2E"/>
          </a:solidFill>
          <a:ln/>
        </p:spPr>
      </p:sp>
      <p:sp>
        <p:nvSpPr>
          <p:cNvPr id="29" name="Text 27"/>
          <p:cNvSpPr/>
          <p:nvPr/>
        </p:nvSpPr>
        <p:spPr>
          <a:xfrm>
            <a:off x="10002393" y="1920240"/>
            <a:ext cx="548640" cy="548640"/>
          </a:xfrm>
          <a:prstGeom prst="rect">
            <a:avLst/>
          </a:prstGeom>
          <a:noFill/>
          <a:ln/>
        </p:spPr>
        <p:txBody>
          <a:bodyPr wrap="square" rtlCol="0" anchor="ctr"/>
          <a:lstStyle/>
          <a:p>
            <a:pPr algn="ctr" indent="0" marL="0">
              <a:buNone/>
            </a:pPr>
            <a:r>
              <a:rPr lang="en-US" sz="1600" b="1" dirty="0">
                <a:solidFill>
                  <a:srgbClr val="FFFFFF"/>
                </a:solidFill>
              </a:rPr>
              <a:t>4</a:t>
            </a:r>
            <a:endParaRPr lang="en-US" sz="1600" dirty="0"/>
          </a:p>
        </p:txBody>
      </p:sp>
      <p:sp>
        <p:nvSpPr>
          <p:cNvPr id="30" name="Text 28"/>
          <p:cNvSpPr/>
          <p:nvPr/>
        </p:nvSpPr>
        <p:spPr>
          <a:xfrm>
            <a:off x="9050274" y="2651760"/>
            <a:ext cx="2498598" cy="502920"/>
          </a:xfrm>
          <a:prstGeom prst="rect">
            <a:avLst/>
          </a:prstGeom>
          <a:noFill/>
          <a:ln/>
        </p:spPr>
        <p:txBody>
          <a:bodyPr wrap="square" rtlCol="0" anchor="ctr"/>
          <a:lstStyle/>
          <a:p>
            <a:pPr algn="ctr" indent="0" marL="0">
              <a:buNone/>
            </a:pPr>
            <a:r>
              <a:rPr lang="en-US" sz="1300" b="1" dirty="0">
                <a:solidFill>
                  <a:srgbClr val="0C1A2E"/>
                </a:solidFill>
              </a:rPr>
              <a:t>Llamada de descubrimiento</a:t>
            </a:r>
            <a:endParaRPr lang="en-US" sz="1300" dirty="0"/>
          </a:p>
        </p:txBody>
      </p:sp>
      <p:sp>
        <p:nvSpPr>
          <p:cNvPr id="31" name="Text 29"/>
          <p:cNvSpPr/>
          <p:nvPr/>
        </p:nvSpPr>
        <p:spPr>
          <a:xfrm>
            <a:off x="9050274" y="3200400"/>
            <a:ext cx="2498598" cy="1463040"/>
          </a:xfrm>
          <a:prstGeom prst="rect">
            <a:avLst/>
          </a:prstGeom>
          <a:noFill/>
          <a:ln/>
        </p:spPr>
        <p:txBody>
          <a:bodyPr wrap="square" rtlCol="0" anchor="t"/>
          <a:lstStyle/>
          <a:p>
            <a:pPr algn="ctr" indent="0" marL="0">
              <a:buNone/>
            </a:pPr>
            <a:r>
              <a:rPr lang="en-US" sz="1050" dirty="0">
                <a:solidFill>
                  <a:srgbClr val="1F2937"/>
                </a:solidFill>
              </a:rPr>
              <a:t>Conversación directa para entender dolores, operación y visión</a:t>
            </a:r>
            <a:endParaRPr lang="en-US" sz="1050" dirty="0"/>
          </a:p>
        </p:txBody>
      </p:sp>
      <p:sp>
        <p:nvSpPr>
          <p:cNvPr id="32" name="Text 30"/>
          <p:cNvSpPr/>
          <p:nvPr/>
        </p:nvSpPr>
        <p:spPr>
          <a:xfrm>
            <a:off x="457200" y="5029200"/>
            <a:ext cx="11274552" cy="365760"/>
          </a:xfrm>
          <a:prstGeom prst="rect">
            <a:avLst/>
          </a:prstGeom>
          <a:noFill/>
          <a:ln/>
        </p:spPr>
        <p:txBody>
          <a:bodyPr wrap="square" rtlCol="0" anchor="ctr"/>
          <a:lstStyle/>
          <a:p>
            <a:pPr indent="0" marL="0">
              <a:buNone/>
            </a:pPr>
            <a:r>
              <a:rPr lang="en-US" sz="1000" i="1" dirty="0">
                <a:solidFill>
                  <a:srgbClr val="6B7280"/>
                </a:solidFill>
              </a:rPr>
              <a:t>Estos cuatro pasos nos permiten llegar con el contexto necesario para hacer recomendaciones específicas para tu empresa — no genéricas.</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88952" cy="502920"/>
          </a:xfrm>
          <a:prstGeom prst="rect">
            <a:avLst/>
          </a:prstGeom>
          <a:solidFill>
            <a:srgbClr val="0C1A2E"/>
          </a:solidFill>
          <a:ln/>
        </p:spPr>
      </p:sp>
      <p:sp>
        <p:nvSpPr>
          <p:cNvPr id="3" name="Text 1"/>
          <p:cNvSpPr/>
          <p:nvPr/>
        </p:nvSpPr>
        <p:spPr>
          <a:xfrm>
            <a:off x="274320" y="0"/>
            <a:ext cx="2743200" cy="502920"/>
          </a:xfrm>
          <a:prstGeom prst="rect">
            <a:avLst/>
          </a:prstGeom>
          <a:noFill/>
          <a:ln/>
        </p:spPr>
        <p:txBody>
          <a:bodyPr wrap="square" rtlCol="0" anchor="ctr"/>
          <a:lstStyle/>
          <a:p>
            <a:pPr indent="0" marL="0">
              <a:buNone/>
            </a:pPr>
            <a:r>
              <a:rPr lang="en-US" sz="1100" b="1" dirty="0">
                <a:solidFill>
                  <a:srgbClr val="FFFFFF"/>
                </a:solidFill>
              </a:rPr>
              <a:t>NEXOSTRAT</a:t>
            </a:r>
            <a:endParaRPr lang="en-US" sz="1100" dirty="0"/>
          </a:p>
        </p:txBody>
      </p:sp>
      <p:sp>
        <p:nvSpPr>
          <p:cNvPr id="4" name="Text 2"/>
          <p:cNvSpPr/>
          <p:nvPr/>
        </p:nvSpPr>
        <p:spPr>
          <a:xfrm>
            <a:off x="411480" y="640080"/>
            <a:ext cx="11365992" cy="594360"/>
          </a:xfrm>
          <a:prstGeom prst="rect">
            <a:avLst/>
          </a:prstGeom>
          <a:noFill/>
          <a:ln/>
        </p:spPr>
        <p:txBody>
          <a:bodyPr wrap="square" rtlCol="0" anchor="ctr"/>
          <a:lstStyle/>
          <a:p>
            <a:pPr indent="0" marL="0">
              <a:buNone/>
            </a:pPr>
            <a:r>
              <a:rPr lang="en-US" sz="2800" b="1" dirty="0">
                <a:solidFill>
                  <a:srgbClr val="0C1A2E"/>
                </a:solidFill>
                <a:latin typeface="Inter" pitchFamily="34" charset="0"/>
                <a:ea typeface="Inter" pitchFamily="34" charset="-122"/>
                <a:cs typeface="Inter" pitchFamily="34" charset="-120"/>
              </a:rPr>
              <a:t>Tu empresa hoy</a:t>
            </a:r>
            <a:endParaRPr lang="en-US" sz="2800" dirty="0"/>
          </a:p>
        </p:txBody>
      </p:sp>
      <p:sp>
        <p:nvSpPr>
          <p:cNvPr id="5" name="Text 3"/>
          <p:cNvSpPr/>
          <p:nvPr/>
        </p:nvSpPr>
        <p:spPr>
          <a:xfrm>
            <a:off x="411480" y="1234440"/>
            <a:ext cx="11365992" cy="320040"/>
          </a:xfrm>
          <a:prstGeom prst="rect">
            <a:avLst/>
          </a:prstGeom>
          <a:noFill/>
          <a:ln/>
        </p:spPr>
        <p:txBody>
          <a:bodyPr wrap="square" rtlCol="0" anchor="ctr"/>
          <a:lstStyle/>
          <a:p>
            <a:pPr indent="0" marL="0">
              <a:buNone/>
            </a:pPr>
            <a:r>
              <a:rPr lang="en-US" sz="1300" dirty="0">
                <a:solidFill>
                  <a:srgbClr val="6B7280"/>
                </a:solidFill>
                <a:latin typeface="Inter" pitchFamily="34" charset="0"/>
                <a:ea typeface="Inter" pitchFamily="34" charset="-122"/>
                <a:cs typeface="Inter" pitchFamily="34" charset="-120"/>
              </a:rPr>
              <a:t>Grupo Trixx</a:t>
            </a:r>
            <a:endParaRPr lang="en-US" sz="1300" dirty="0"/>
          </a:p>
        </p:txBody>
      </p:sp>
      <p:sp>
        <p:nvSpPr>
          <p:cNvPr id="6" name="Shape 4"/>
          <p:cNvSpPr/>
          <p:nvPr/>
        </p:nvSpPr>
        <p:spPr>
          <a:xfrm>
            <a:off x="0" y="6537960"/>
            <a:ext cx="12188952" cy="320040"/>
          </a:xfrm>
          <a:prstGeom prst="rect">
            <a:avLst/>
          </a:prstGeom>
          <a:solidFill>
            <a:srgbClr val="D1D5DB"/>
          </a:solidFill>
          <a:ln/>
        </p:spPr>
      </p:sp>
      <p:sp>
        <p:nvSpPr>
          <p:cNvPr id="7" name="Text 5"/>
          <p:cNvSpPr/>
          <p:nvPr/>
        </p:nvSpPr>
        <p:spPr>
          <a:xfrm>
            <a:off x="274320" y="6537960"/>
            <a:ext cx="5486400" cy="320040"/>
          </a:xfrm>
          <a:prstGeom prst="rect">
            <a:avLst/>
          </a:prstGeom>
          <a:noFill/>
          <a:ln/>
        </p:spPr>
        <p:txBody>
          <a:bodyPr wrap="square" rtlCol="0" anchor="ctr"/>
          <a:lstStyle/>
          <a:p>
            <a:pPr indent="0" marL="0">
              <a:buNone/>
            </a:pPr>
            <a:r>
              <a:rPr lang="en-US" sz="900" dirty="0">
                <a:solidFill>
                  <a:srgbClr val="6B7280"/>
                </a:solidFill>
              </a:rPr>
              <a:t>Grupo Trixx · 28 de mayo de 2026</a:t>
            </a:r>
            <a:endParaRPr lang="en-US" sz="900" dirty="0"/>
          </a:p>
        </p:txBody>
      </p:sp>
      <p:sp>
        <p:nvSpPr>
          <p:cNvPr id="8" name="Text 6"/>
          <p:cNvSpPr/>
          <p:nvPr/>
        </p:nvSpPr>
        <p:spPr>
          <a:xfrm>
            <a:off x="9445752" y="6537960"/>
            <a:ext cx="2468880" cy="320040"/>
          </a:xfrm>
          <a:prstGeom prst="rect">
            <a:avLst/>
          </a:prstGeom>
          <a:noFill/>
          <a:ln/>
        </p:spPr>
        <p:txBody>
          <a:bodyPr wrap="square" rtlCol="0" anchor="ctr"/>
          <a:lstStyle/>
          <a:p>
            <a:pPr algn="r" indent="0" marL="0">
              <a:buNone/>
            </a:pPr>
            <a:r>
              <a:rPr lang="en-US" sz="900" dirty="0">
                <a:solidFill>
                  <a:srgbClr val="6B7280"/>
                </a:solidFill>
              </a:rPr>
              <a:t>nexostrat.co</a:t>
            </a:r>
            <a:endParaRPr lang="en-US" sz="900" dirty="0"/>
          </a:p>
        </p:txBody>
      </p:sp>
      <p:sp>
        <p:nvSpPr>
          <p:cNvPr id="9" name="Text 7"/>
          <p:cNvSpPr/>
          <p:nvPr/>
        </p:nvSpPr>
        <p:spPr>
          <a:xfrm>
            <a:off x="411480" y="1691640"/>
            <a:ext cx="6100420" cy="2560320"/>
          </a:xfrm>
          <a:prstGeom prst="rect">
            <a:avLst/>
          </a:prstGeom>
          <a:noFill/>
          <a:ln/>
        </p:spPr>
        <p:txBody>
          <a:bodyPr wrap="square" rtlCol="0" anchor="t"/>
          <a:lstStyle/>
          <a:p>
            <a:pPr indent="0" marL="0">
              <a:buNone/>
            </a:pPr>
            <a:r>
              <a:rPr lang="en-US" sz="1150" dirty="0">
                <a:solidFill>
                  <a:srgbClr val="1F2937"/>
                </a:solidFill>
                <a:latin typeface="Inter" pitchFamily="34" charset="0"/>
                <a:ea typeface="Inter" pitchFamily="34" charset="-122"/>
                <a:cs typeface="Inter" pitchFamily="34" charset="-120"/>
              </a:rPr>
              <a:t>Grupo Trixx es una operación de logística cross-border México–Estados Unidos construida durante 24 años: agencia aduanal, transporte con flota propia, almacenaje, distribución y paquetería, en cinco sedes (Tijuana, Guadalajara, Ciudad de México, Vernon y San Diego). Acaba de invertir más de USD 1M en duplicar su capacidad con 10 camiones nuevos y 30 cajas. La operación física ya está; lo que falta es la capa de información que la sostenga mientras crece — hoy repartida entre grupos de WhatsApp, Excel personales y ocho plataformas que no se hablan entre sí.</a:t>
            </a:r>
            <a:endParaRPr lang="en-US" sz="1150" dirty="0"/>
          </a:p>
        </p:txBody>
      </p:sp>
      <p:sp>
        <p:nvSpPr>
          <p:cNvPr id="10" name="Shape 8"/>
          <p:cNvSpPr/>
          <p:nvPr/>
        </p:nvSpPr>
        <p:spPr>
          <a:xfrm>
            <a:off x="6649060" y="1691640"/>
            <a:ext cx="4658502" cy="438912"/>
          </a:xfrm>
          <a:prstGeom prst="rect">
            <a:avLst/>
          </a:prstGeom>
          <a:solidFill>
            <a:srgbClr val="F5F5F5"/>
          </a:solidFill>
          <a:ln w="12700">
            <a:solidFill>
              <a:srgbClr val="D1D5DB"/>
            </a:solidFill>
            <a:prstDash val="solid"/>
          </a:ln>
        </p:spPr>
      </p:sp>
      <p:sp>
        <p:nvSpPr>
          <p:cNvPr id="11" name="Shape 9"/>
          <p:cNvSpPr/>
          <p:nvPr/>
        </p:nvSpPr>
        <p:spPr>
          <a:xfrm>
            <a:off x="6649060" y="1691640"/>
            <a:ext cx="36576" cy="438912"/>
          </a:xfrm>
          <a:prstGeom prst="rect">
            <a:avLst/>
          </a:prstGeom>
          <a:solidFill>
            <a:srgbClr val="10B981"/>
          </a:solidFill>
          <a:ln/>
        </p:spPr>
      </p:sp>
      <p:sp>
        <p:nvSpPr>
          <p:cNvPr id="12" name="Text 10"/>
          <p:cNvSpPr/>
          <p:nvPr/>
        </p:nvSpPr>
        <p:spPr>
          <a:xfrm>
            <a:off x="6758788" y="1691640"/>
            <a:ext cx="4521342" cy="438912"/>
          </a:xfrm>
          <a:prstGeom prst="rect">
            <a:avLst/>
          </a:prstGeom>
          <a:noFill/>
          <a:ln/>
        </p:spPr>
        <p:txBody>
          <a:bodyPr wrap="square" rtlCol="0" anchor="ctr"/>
          <a:lstStyle/>
          <a:p>
            <a:pPr indent="0" marL="0">
              <a:buNone/>
            </a:pPr>
            <a:r>
              <a:rPr lang="en-US" sz="1100" dirty="0">
                <a:solidFill>
                  <a:srgbClr val="1F2937"/>
                </a:solidFill>
              </a:rPr>
              <a:t>24 años de operación continua</a:t>
            </a:r>
            <a:endParaRPr lang="en-US" sz="1100" dirty="0"/>
          </a:p>
        </p:txBody>
      </p:sp>
      <p:sp>
        <p:nvSpPr>
          <p:cNvPr id="13" name="Shape 11"/>
          <p:cNvSpPr/>
          <p:nvPr/>
        </p:nvSpPr>
        <p:spPr>
          <a:xfrm>
            <a:off x="6649060" y="2203704"/>
            <a:ext cx="4658502" cy="438912"/>
          </a:xfrm>
          <a:prstGeom prst="rect">
            <a:avLst/>
          </a:prstGeom>
          <a:solidFill>
            <a:srgbClr val="F5F5F5"/>
          </a:solidFill>
          <a:ln w="12700">
            <a:solidFill>
              <a:srgbClr val="D1D5DB"/>
            </a:solidFill>
            <a:prstDash val="solid"/>
          </a:ln>
        </p:spPr>
      </p:sp>
      <p:sp>
        <p:nvSpPr>
          <p:cNvPr id="14" name="Shape 12"/>
          <p:cNvSpPr/>
          <p:nvPr/>
        </p:nvSpPr>
        <p:spPr>
          <a:xfrm>
            <a:off x="6649060" y="2203704"/>
            <a:ext cx="36576" cy="438912"/>
          </a:xfrm>
          <a:prstGeom prst="rect">
            <a:avLst/>
          </a:prstGeom>
          <a:solidFill>
            <a:srgbClr val="10B981"/>
          </a:solidFill>
          <a:ln/>
        </p:spPr>
      </p:sp>
      <p:sp>
        <p:nvSpPr>
          <p:cNvPr id="15" name="Text 13"/>
          <p:cNvSpPr/>
          <p:nvPr/>
        </p:nvSpPr>
        <p:spPr>
          <a:xfrm>
            <a:off x="6758788" y="2203704"/>
            <a:ext cx="4521342" cy="438912"/>
          </a:xfrm>
          <a:prstGeom prst="rect">
            <a:avLst/>
          </a:prstGeom>
          <a:noFill/>
          <a:ln/>
        </p:spPr>
        <p:txBody>
          <a:bodyPr wrap="square" rtlCol="0" anchor="ctr"/>
          <a:lstStyle/>
          <a:p>
            <a:pPr indent="0" marL="0">
              <a:buNone/>
            </a:pPr>
            <a:r>
              <a:rPr lang="en-US" sz="1100" dirty="0">
                <a:solidFill>
                  <a:srgbClr val="1F2937"/>
                </a:solidFill>
              </a:rPr>
              <a:t>120+ vehículos (22+ camiones, 70+ cajas)</a:t>
            </a:r>
            <a:endParaRPr lang="en-US" sz="1100" dirty="0"/>
          </a:p>
        </p:txBody>
      </p:sp>
      <p:sp>
        <p:nvSpPr>
          <p:cNvPr id="16" name="Shape 14"/>
          <p:cNvSpPr/>
          <p:nvPr/>
        </p:nvSpPr>
        <p:spPr>
          <a:xfrm>
            <a:off x="6649060" y="2715768"/>
            <a:ext cx="4658502" cy="438912"/>
          </a:xfrm>
          <a:prstGeom prst="rect">
            <a:avLst/>
          </a:prstGeom>
          <a:solidFill>
            <a:srgbClr val="F5F5F5"/>
          </a:solidFill>
          <a:ln w="12700">
            <a:solidFill>
              <a:srgbClr val="D1D5DB"/>
            </a:solidFill>
            <a:prstDash val="solid"/>
          </a:ln>
        </p:spPr>
      </p:sp>
      <p:sp>
        <p:nvSpPr>
          <p:cNvPr id="17" name="Shape 15"/>
          <p:cNvSpPr/>
          <p:nvPr/>
        </p:nvSpPr>
        <p:spPr>
          <a:xfrm>
            <a:off x="6649060" y="2715768"/>
            <a:ext cx="36576" cy="438912"/>
          </a:xfrm>
          <a:prstGeom prst="rect">
            <a:avLst/>
          </a:prstGeom>
          <a:solidFill>
            <a:srgbClr val="10B981"/>
          </a:solidFill>
          <a:ln/>
        </p:spPr>
      </p:sp>
      <p:sp>
        <p:nvSpPr>
          <p:cNvPr id="18" name="Text 16"/>
          <p:cNvSpPr/>
          <p:nvPr/>
        </p:nvSpPr>
        <p:spPr>
          <a:xfrm>
            <a:off x="6758788" y="2715768"/>
            <a:ext cx="4521342" cy="438912"/>
          </a:xfrm>
          <a:prstGeom prst="rect">
            <a:avLst/>
          </a:prstGeom>
          <a:noFill/>
          <a:ln/>
        </p:spPr>
        <p:txBody>
          <a:bodyPr wrap="square" rtlCol="0" anchor="ctr"/>
          <a:lstStyle/>
          <a:p>
            <a:pPr indent="0" marL="0">
              <a:buNone/>
            </a:pPr>
            <a:r>
              <a:rPr lang="en-US" sz="1100" dirty="0">
                <a:solidFill>
                  <a:srgbClr val="1F2937"/>
                </a:solidFill>
              </a:rPr>
              <a:t>Inversión reciente de USD 1M+ que duplicó la flota</a:t>
            </a:r>
            <a:endParaRPr lang="en-US" sz="1100" dirty="0"/>
          </a:p>
        </p:txBody>
      </p:sp>
      <p:sp>
        <p:nvSpPr>
          <p:cNvPr id="19" name="Shape 17"/>
          <p:cNvSpPr/>
          <p:nvPr/>
        </p:nvSpPr>
        <p:spPr>
          <a:xfrm>
            <a:off x="6649060" y="3227832"/>
            <a:ext cx="4658502" cy="438912"/>
          </a:xfrm>
          <a:prstGeom prst="rect">
            <a:avLst/>
          </a:prstGeom>
          <a:solidFill>
            <a:srgbClr val="F5F5F5"/>
          </a:solidFill>
          <a:ln w="12700">
            <a:solidFill>
              <a:srgbClr val="D1D5DB"/>
            </a:solidFill>
            <a:prstDash val="solid"/>
          </a:ln>
        </p:spPr>
      </p:sp>
      <p:sp>
        <p:nvSpPr>
          <p:cNvPr id="20" name="Shape 18"/>
          <p:cNvSpPr/>
          <p:nvPr/>
        </p:nvSpPr>
        <p:spPr>
          <a:xfrm>
            <a:off x="6649060" y="3227832"/>
            <a:ext cx="36576" cy="438912"/>
          </a:xfrm>
          <a:prstGeom prst="rect">
            <a:avLst/>
          </a:prstGeom>
          <a:solidFill>
            <a:srgbClr val="10B981"/>
          </a:solidFill>
          <a:ln/>
        </p:spPr>
      </p:sp>
      <p:sp>
        <p:nvSpPr>
          <p:cNvPr id="21" name="Text 19"/>
          <p:cNvSpPr/>
          <p:nvPr/>
        </p:nvSpPr>
        <p:spPr>
          <a:xfrm>
            <a:off x="6758788" y="3227832"/>
            <a:ext cx="4521342" cy="438912"/>
          </a:xfrm>
          <a:prstGeom prst="rect">
            <a:avLst/>
          </a:prstGeom>
          <a:noFill/>
          <a:ln/>
        </p:spPr>
        <p:txBody>
          <a:bodyPr wrap="square" rtlCol="0" anchor="ctr"/>
          <a:lstStyle/>
          <a:p>
            <a:pPr indent="0" marL="0">
              <a:buNone/>
            </a:pPr>
            <a:r>
              <a:rPr lang="en-US" sz="1100" dirty="0">
                <a:solidFill>
                  <a:srgbClr val="1F2937"/>
                </a:solidFill>
              </a:rPr>
              <a:t>8 plataformas digitales activas, sin integrar</a:t>
            </a:r>
            <a:endParaRPr lang="en-US" sz="1100" dirty="0"/>
          </a:p>
        </p:txBody>
      </p:sp>
      <p:sp>
        <p:nvSpPr>
          <p:cNvPr id="22" name="Shape 20"/>
          <p:cNvSpPr/>
          <p:nvPr/>
        </p:nvSpPr>
        <p:spPr>
          <a:xfrm>
            <a:off x="411480" y="4389120"/>
            <a:ext cx="10896082" cy="502920"/>
          </a:xfrm>
          <a:prstGeom prst="rect">
            <a:avLst/>
          </a:prstGeom>
          <a:solidFill>
            <a:srgbClr val="F0FBFF"/>
          </a:solidFill>
          <a:ln w="12700">
            <a:solidFill>
              <a:srgbClr val="E0F2FE"/>
            </a:solidFill>
            <a:prstDash val="solid"/>
          </a:ln>
        </p:spPr>
      </p:sp>
      <p:sp>
        <p:nvSpPr>
          <p:cNvPr id="23" name="Text 21"/>
          <p:cNvSpPr/>
          <p:nvPr/>
        </p:nvSpPr>
        <p:spPr>
          <a:xfrm>
            <a:off x="548640" y="4389120"/>
            <a:ext cx="1463040" cy="502920"/>
          </a:xfrm>
          <a:prstGeom prst="rect">
            <a:avLst/>
          </a:prstGeom>
          <a:noFill/>
          <a:ln/>
        </p:spPr>
        <p:txBody>
          <a:bodyPr wrap="square" rtlCol="0" anchor="ctr"/>
          <a:lstStyle/>
          <a:p>
            <a:pPr indent="0" marL="0">
              <a:buNone/>
            </a:pPr>
            <a:r>
              <a:rPr lang="en-US" sz="1100" b="1" dirty="0">
                <a:solidFill>
                  <a:srgbClr val="0C1A2E"/>
                </a:solidFill>
              </a:rPr>
              <a:t>Madurez digital:</a:t>
            </a:r>
            <a:endParaRPr lang="en-US" sz="1100" dirty="0"/>
          </a:p>
        </p:txBody>
      </p:sp>
      <p:sp>
        <p:nvSpPr>
          <p:cNvPr id="24" name="Text 22"/>
          <p:cNvSpPr/>
          <p:nvPr/>
        </p:nvSpPr>
        <p:spPr>
          <a:xfrm>
            <a:off x="2011680" y="4389120"/>
            <a:ext cx="1097280" cy="502920"/>
          </a:xfrm>
          <a:prstGeom prst="rect">
            <a:avLst/>
          </a:prstGeom>
          <a:noFill/>
          <a:ln/>
        </p:spPr>
        <p:txBody>
          <a:bodyPr wrap="square" rtlCol="0" anchor="ctr"/>
          <a:lstStyle/>
          <a:p>
            <a:pPr indent="0" marL="0">
              <a:buNone/>
            </a:pPr>
            <a:r>
              <a:rPr lang="en-US" sz="1100" b="1" dirty="0">
                <a:solidFill>
                  <a:srgbClr val="10B981"/>
                </a:solidFill>
              </a:rPr>
              <a:t>Media</a:t>
            </a:r>
            <a:endParaRPr lang="en-US" sz="1100" dirty="0"/>
          </a:p>
        </p:txBody>
      </p:sp>
      <p:sp>
        <p:nvSpPr>
          <p:cNvPr id="25" name="Text 23"/>
          <p:cNvSpPr/>
          <p:nvPr/>
        </p:nvSpPr>
        <p:spPr>
          <a:xfrm>
            <a:off x="3063240" y="4389120"/>
            <a:ext cx="8381482" cy="502920"/>
          </a:xfrm>
          <a:prstGeom prst="rect">
            <a:avLst/>
          </a:prstGeom>
          <a:noFill/>
          <a:ln/>
        </p:spPr>
        <p:txBody>
          <a:bodyPr wrap="square" rtlCol="0" anchor="ctr"/>
          <a:lstStyle/>
          <a:p>
            <a:pPr indent="0" marL="0">
              <a:buNone/>
            </a:pPr>
            <a:r>
              <a:rPr lang="en-US" sz="1050" dirty="0">
                <a:solidFill>
                  <a:srgbClr val="6B7280"/>
                </a:solidFill>
              </a:rPr>
              <a:t>  Tienen las herramientas (Tracking Premium, Samsara, Monday, McKinney, correo en migración), pero operan aisladas y sin un punto central donde viva la información. El stack está; falta la arquitectura que lo conecte.</a:t>
            </a:r>
            <a:endParaRPr lang="en-US" sz="1050" dirty="0"/>
          </a:p>
        </p:txBody>
      </p:sp>
      <p:sp>
        <p:nvSpPr>
          <p:cNvPr id="26" name="Text 24"/>
          <p:cNvSpPr/>
          <p:nvPr/>
        </p:nvSpPr>
        <p:spPr>
          <a:xfrm>
            <a:off x="411480" y="4983480"/>
            <a:ext cx="2011680" cy="365760"/>
          </a:xfrm>
          <a:prstGeom prst="rect">
            <a:avLst/>
          </a:prstGeom>
          <a:noFill/>
          <a:ln/>
        </p:spPr>
        <p:txBody>
          <a:bodyPr wrap="square" rtlCol="0" anchor="t"/>
          <a:lstStyle/>
          <a:p>
            <a:pPr indent="0" marL="0">
              <a:buNone/>
            </a:pPr>
            <a:r>
              <a:rPr lang="en-US" sz="1100" b="1" dirty="0">
                <a:solidFill>
                  <a:srgbClr val="0C1A2E"/>
                </a:solidFill>
              </a:rPr>
              <a:t>Posición competitiva: </a:t>
            </a:r>
            <a:endParaRPr lang="en-US" sz="1100" dirty="0"/>
          </a:p>
        </p:txBody>
      </p:sp>
      <p:sp>
        <p:nvSpPr>
          <p:cNvPr id="27" name="Text 25"/>
          <p:cNvSpPr/>
          <p:nvPr/>
        </p:nvSpPr>
        <p:spPr>
          <a:xfrm>
            <a:off x="2423160" y="4983480"/>
            <a:ext cx="9491472" cy="365760"/>
          </a:xfrm>
          <a:prstGeom prst="rect">
            <a:avLst/>
          </a:prstGeom>
          <a:noFill/>
          <a:ln/>
        </p:spPr>
        <p:txBody>
          <a:bodyPr wrap="square" rtlCol="0" anchor="t"/>
          <a:lstStyle/>
          <a:p>
            <a:pPr indent="0" marL="0">
              <a:buNone/>
            </a:pPr>
            <a:r>
              <a:rPr lang="en-US" sz="1100" dirty="0">
                <a:solidFill>
                  <a:srgbClr val="1F2937"/>
                </a:solidFill>
              </a:rPr>
              <a:t>Dueño-operador de escala media en el nicho Tijuana–Los Ángeles. Supera a los competidores locales en escala física, pero está por detrás de los jugadores tech-enabled en la capa digital — la ventana que aún puede capturar.</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88952" cy="502920"/>
          </a:xfrm>
          <a:prstGeom prst="rect">
            <a:avLst/>
          </a:prstGeom>
          <a:solidFill>
            <a:srgbClr val="0C1A2E"/>
          </a:solidFill>
          <a:ln/>
        </p:spPr>
      </p:sp>
      <p:sp>
        <p:nvSpPr>
          <p:cNvPr id="3" name="Text 1"/>
          <p:cNvSpPr/>
          <p:nvPr/>
        </p:nvSpPr>
        <p:spPr>
          <a:xfrm>
            <a:off x="274320" y="0"/>
            <a:ext cx="2743200" cy="502920"/>
          </a:xfrm>
          <a:prstGeom prst="rect">
            <a:avLst/>
          </a:prstGeom>
          <a:noFill/>
          <a:ln/>
        </p:spPr>
        <p:txBody>
          <a:bodyPr wrap="square" rtlCol="0" anchor="ctr"/>
          <a:lstStyle/>
          <a:p>
            <a:pPr indent="0" marL="0">
              <a:buNone/>
            </a:pPr>
            <a:r>
              <a:rPr lang="en-US" sz="1100" b="1" dirty="0">
                <a:solidFill>
                  <a:srgbClr val="FFFFFF"/>
                </a:solidFill>
              </a:rPr>
              <a:t>NEXOSTRAT</a:t>
            </a:r>
            <a:endParaRPr lang="en-US" sz="1100" dirty="0"/>
          </a:p>
        </p:txBody>
      </p:sp>
      <p:sp>
        <p:nvSpPr>
          <p:cNvPr id="4" name="Text 2"/>
          <p:cNvSpPr/>
          <p:nvPr/>
        </p:nvSpPr>
        <p:spPr>
          <a:xfrm>
            <a:off x="411480" y="640080"/>
            <a:ext cx="11365992" cy="594360"/>
          </a:xfrm>
          <a:prstGeom prst="rect">
            <a:avLst/>
          </a:prstGeom>
          <a:noFill/>
          <a:ln/>
        </p:spPr>
        <p:txBody>
          <a:bodyPr wrap="square" rtlCol="0" anchor="ctr"/>
          <a:lstStyle/>
          <a:p>
            <a:pPr indent="0" marL="0">
              <a:buNone/>
            </a:pPr>
            <a:r>
              <a:rPr lang="en-US" sz="2800" b="1" dirty="0">
                <a:solidFill>
                  <a:srgbClr val="0C1A2E"/>
                </a:solidFill>
                <a:latin typeface="Inter" pitchFamily="34" charset="0"/>
                <a:ea typeface="Inter" pitchFamily="34" charset="-122"/>
                <a:cs typeface="Inter" pitchFamily="34" charset="-120"/>
              </a:rPr>
              <a:t>Los problemas que encontramos</a:t>
            </a:r>
            <a:endParaRPr lang="en-US" sz="2800" dirty="0"/>
          </a:p>
        </p:txBody>
      </p:sp>
      <p:sp>
        <p:nvSpPr>
          <p:cNvPr id="5" name="Text 3"/>
          <p:cNvSpPr/>
          <p:nvPr/>
        </p:nvSpPr>
        <p:spPr>
          <a:xfrm>
            <a:off x="411480" y="1234440"/>
            <a:ext cx="11365992" cy="320040"/>
          </a:xfrm>
          <a:prstGeom prst="rect">
            <a:avLst/>
          </a:prstGeom>
          <a:noFill/>
          <a:ln/>
        </p:spPr>
        <p:txBody>
          <a:bodyPr wrap="square" rtlCol="0" anchor="ctr"/>
          <a:lstStyle/>
          <a:p>
            <a:pPr indent="0" marL="0">
              <a:buNone/>
            </a:pPr>
            <a:r>
              <a:rPr lang="en-US" sz="1300" dirty="0">
                <a:solidFill>
                  <a:srgbClr val="6B7280"/>
                </a:solidFill>
                <a:latin typeface="Inter" pitchFamily="34" charset="0"/>
                <a:ea typeface="Inter" pitchFamily="34" charset="-122"/>
                <a:cs typeface="Inter" pitchFamily="34" charset="-120"/>
              </a:rPr>
              <a:t>Lo que identificamos en el análisis y confirmamos en nuestra conversación</a:t>
            </a:r>
            <a:endParaRPr lang="en-US" sz="1300" dirty="0"/>
          </a:p>
        </p:txBody>
      </p:sp>
      <p:sp>
        <p:nvSpPr>
          <p:cNvPr id="6" name="Shape 4"/>
          <p:cNvSpPr/>
          <p:nvPr/>
        </p:nvSpPr>
        <p:spPr>
          <a:xfrm>
            <a:off x="0" y="6537960"/>
            <a:ext cx="12188952" cy="320040"/>
          </a:xfrm>
          <a:prstGeom prst="rect">
            <a:avLst/>
          </a:prstGeom>
          <a:solidFill>
            <a:srgbClr val="D1D5DB"/>
          </a:solidFill>
          <a:ln/>
        </p:spPr>
      </p:sp>
      <p:sp>
        <p:nvSpPr>
          <p:cNvPr id="7" name="Text 5"/>
          <p:cNvSpPr/>
          <p:nvPr/>
        </p:nvSpPr>
        <p:spPr>
          <a:xfrm>
            <a:off x="274320" y="6537960"/>
            <a:ext cx="5486400" cy="320040"/>
          </a:xfrm>
          <a:prstGeom prst="rect">
            <a:avLst/>
          </a:prstGeom>
          <a:noFill/>
          <a:ln/>
        </p:spPr>
        <p:txBody>
          <a:bodyPr wrap="square" rtlCol="0" anchor="ctr"/>
          <a:lstStyle/>
          <a:p>
            <a:pPr indent="0" marL="0">
              <a:buNone/>
            </a:pPr>
            <a:r>
              <a:rPr lang="en-US" sz="900" dirty="0">
                <a:solidFill>
                  <a:srgbClr val="6B7280"/>
                </a:solidFill>
              </a:rPr>
              <a:t>Grupo Trixx · 28 de mayo de 2026</a:t>
            </a:r>
            <a:endParaRPr lang="en-US" sz="900" dirty="0"/>
          </a:p>
        </p:txBody>
      </p:sp>
      <p:sp>
        <p:nvSpPr>
          <p:cNvPr id="8" name="Text 6"/>
          <p:cNvSpPr/>
          <p:nvPr/>
        </p:nvSpPr>
        <p:spPr>
          <a:xfrm>
            <a:off x="9445752" y="6537960"/>
            <a:ext cx="2468880" cy="320040"/>
          </a:xfrm>
          <a:prstGeom prst="rect">
            <a:avLst/>
          </a:prstGeom>
          <a:noFill/>
          <a:ln/>
        </p:spPr>
        <p:txBody>
          <a:bodyPr wrap="square" rtlCol="0" anchor="ctr"/>
          <a:lstStyle/>
          <a:p>
            <a:pPr algn="r" indent="0" marL="0">
              <a:buNone/>
            </a:pPr>
            <a:r>
              <a:rPr lang="en-US" sz="900" dirty="0">
                <a:solidFill>
                  <a:srgbClr val="6B7280"/>
                </a:solidFill>
              </a:rPr>
              <a:t>nexostrat.co</a:t>
            </a:r>
            <a:endParaRPr lang="en-US" sz="900" dirty="0"/>
          </a:p>
        </p:txBody>
      </p:sp>
      <p:sp>
        <p:nvSpPr>
          <p:cNvPr id="9" name="Shape 7"/>
          <p:cNvSpPr/>
          <p:nvPr/>
        </p:nvSpPr>
        <p:spPr>
          <a:xfrm>
            <a:off x="457200" y="1691640"/>
            <a:ext cx="3648456" cy="3383280"/>
          </a:xfrm>
          <a:prstGeom prst="rect">
            <a:avLst/>
          </a:prstGeom>
          <a:solidFill>
            <a:srgbClr val="FFFFFF"/>
          </a:solidFill>
          <a:ln w="12700">
            <a:solidFill>
              <a:srgbClr val="D1D5DB"/>
            </a:solidFill>
            <a:prstDash val="solid"/>
          </a:ln>
        </p:spPr>
      </p:sp>
      <p:sp>
        <p:nvSpPr>
          <p:cNvPr id="10" name="Shape 8"/>
          <p:cNvSpPr/>
          <p:nvPr/>
        </p:nvSpPr>
        <p:spPr>
          <a:xfrm>
            <a:off x="457200" y="1691640"/>
            <a:ext cx="3648456" cy="54864"/>
          </a:xfrm>
          <a:prstGeom prst="rect">
            <a:avLst/>
          </a:prstGeom>
          <a:solidFill>
            <a:srgbClr val="DC2626"/>
          </a:solidFill>
          <a:ln/>
        </p:spPr>
      </p:sp>
      <p:sp>
        <p:nvSpPr>
          <p:cNvPr id="11" name="Text 9"/>
          <p:cNvSpPr/>
          <p:nvPr/>
        </p:nvSpPr>
        <p:spPr>
          <a:xfrm>
            <a:off x="566928" y="1828800"/>
            <a:ext cx="365760" cy="320040"/>
          </a:xfrm>
          <a:prstGeom prst="rect">
            <a:avLst/>
          </a:prstGeom>
          <a:noFill/>
          <a:ln/>
        </p:spPr>
        <p:txBody>
          <a:bodyPr wrap="square" rtlCol="0" anchor="ctr"/>
          <a:lstStyle/>
          <a:p>
            <a:pPr indent="0" marL="0">
              <a:buNone/>
            </a:pPr>
            <a:r>
              <a:rPr lang="en-US" sz="1400" b="1" dirty="0">
                <a:solidFill>
                  <a:srgbClr val="DC2626"/>
                </a:solidFill>
              </a:rPr>
              <a:t>#1</a:t>
            </a:r>
            <a:endParaRPr lang="en-US" sz="1400" dirty="0"/>
          </a:p>
        </p:txBody>
      </p:sp>
      <p:sp>
        <p:nvSpPr>
          <p:cNvPr id="12" name="Text 10"/>
          <p:cNvSpPr/>
          <p:nvPr/>
        </p:nvSpPr>
        <p:spPr>
          <a:xfrm>
            <a:off x="566928" y="1828800"/>
            <a:ext cx="3419856" cy="457200"/>
          </a:xfrm>
          <a:prstGeom prst="rect">
            <a:avLst/>
          </a:prstGeom>
          <a:noFill/>
          <a:ln/>
        </p:spPr>
        <p:txBody>
          <a:bodyPr wrap="square" rtlCol="0" anchor="t"/>
          <a:lstStyle/>
          <a:p>
            <a:pPr indent="0" marL="0">
              <a:buNone/>
            </a:pPr>
            <a:r>
              <a:rPr lang="en-US" sz="1200" b="1" dirty="0">
                <a:solidFill>
                  <a:srgbClr val="1F2937"/>
                </a:solidFill>
              </a:rPr>
              <a:t>La información existe, pero no se puede recuperar a tiempo</a:t>
            </a:r>
            <a:endParaRPr lang="en-US" sz="1200" dirty="0"/>
          </a:p>
        </p:txBody>
      </p:sp>
      <p:sp>
        <p:nvSpPr>
          <p:cNvPr id="13" name="Text 11"/>
          <p:cNvSpPr/>
          <p:nvPr/>
        </p:nvSpPr>
        <p:spPr>
          <a:xfrm>
            <a:off x="566928" y="2350008"/>
            <a:ext cx="3419856" cy="777240"/>
          </a:xfrm>
          <a:prstGeom prst="rect">
            <a:avLst/>
          </a:prstGeom>
          <a:noFill/>
          <a:ln/>
        </p:spPr>
        <p:txBody>
          <a:bodyPr wrap="square" rtlCol="0" anchor="t"/>
          <a:lstStyle/>
          <a:p>
            <a:pPr indent="0" marL="0">
              <a:buNone/>
            </a:pPr>
            <a:r>
              <a:rPr lang="en-US" sz="1000" dirty="0">
                <a:solidFill>
                  <a:srgbClr val="1F2937"/>
                </a:solidFill>
              </a:rPr>
              <a:t>La información operativa está fragmentada en Excel personales y grupos de WhatsApp. La dirección termina consolidando a mano lo que debería consultar en segundos.</a:t>
            </a:r>
            <a:endParaRPr lang="en-US" sz="1000" dirty="0"/>
          </a:p>
        </p:txBody>
      </p:sp>
      <p:sp>
        <p:nvSpPr>
          <p:cNvPr id="14" name="Shape 12"/>
          <p:cNvSpPr/>
          <p:nvPr/>
        </p:nvSpPr>
        <p:spPr>
          <a:xfrm>
            <a:off x="530352" y="3200400"/>
            <a:ext cx="3493008" cy="822960"/>
          </a:xfrm>
          <a:prstGeom prst="rect">
            <a:avLst/>
          </a:prstGeom>
          <a:solidFill>
            <a:srgbClr val="F0FBFF"/>
          </a:solidFill>
          <a:ln w="12700">
            <a:solidFill>
              <a:srgbClr val="E0F2FE"/>
            </a:solidFill>
            <a:prstDash val="solid"/>
          </a:ln>
        </p:spPr>
      </p:sp>
      <p:sp>
        <p:nvSpPr>
          <p:cNvPr id="15" name="Text 13"/>
          <p:cNvSpPr/>
          <p:nvPr/>
        </p:nvSpPr>
        <p:spPr>
          <a:xfrm>
            <a:off x="585216" y="3227832"/>
            <a:ext cx="3392424" cy="768096"/>
          </a:xfrm>
          <a:prstGeom prst="rect">
            <a:avLst/>
          </a:prstGeom>
          <a:noFill/>
          <a:ln/>
        </p:spPr>
        <p:txBody>
          <a:bodyPr wrap="square" rtlCol="0" anchor="ctr"/>
          <a:lstStyle/>
          <a:p>
            <a:pPr indent="0" marL="0">
              <a:buNone/>
            </a:pPr>
            <a:r>
              <a:rPr lang="en-US" sz="950" i="1" dirty="0">
                <a:solidFill>
                  <a:srgbClr val="0C1A2E"/>
                </a:solidFill>
              </a:rPr>
              <a:t>"La información tiene que estar en tres minutos. Si ahorita yo pido la relación de cajas y camiones y se la pido a Miguel, o si no estaba, nadie la tiene."</a:t>
            </a:r>
            <a:endParaRPr lang="en-US" sz="950" dirty="0"/>
          </a:p>
        </p:txBody>
      </p:sp>
      <p:sp>
        <p:nvSpPr>
          <p:cNvPr id="16" name="Shape 14"/>
          <p:cNvSpPr/>
          <p:nvPr/>
        </p:nvSpPr>
        <p:spPr>
          <a:xfrm>
            <a:off x="530352" y="4114800"/>
            <a:ext cx="3493008" cy="685800"/>
          </a:xfrm>
          <a:prstGeom prst="rect">
            <a:avLst/>
          </a:prstGeom>
          <a:solidFill>
            <a:srgbClr val="FFFBEB"/>
          </a:solidFill>
          <a:ln w="12700">
            <a:solidFill>
              <a:srgbClr val="F59E0B"/>
            </a:solidFill>
            <a:prstDash val="solid"/>
          </a:ln>
        </p:spPr>
      </p:sp>
      <p:sp>
        <p:nvSpPr>
          <p:cNvPr id="17" name="Text 15"/>
          <p:cNvSpPr/>
          <p:nvPr/>
        </p:nvSpPr>
        <p:spPr>
          <a:xfrm>
            <a:off x="585216" y="4142232"/>
            <a:ext cx="3392424" cy="201168"/>
          </a:xfrm>
          <a:prstGeom prst="rect">
            <a:avLst/>
          </a:prstGeom>
          <a:noFill/>
          <a:ln/>
        </p:spPr>
        <p:txBody>
          <a:bodyPr wrap="none" rtlCol="0" anchor="ctr"/>
          <a:lstStyle/>
          <a:p>
            <a:pPr indent="0" marL="0">
              <a:buNone/>
            </a:pPr>
            <a:r>
              <a:rPr lang="en-US" sz="850" b="1" dirty="0">
                <a:solidFill>
                  <a:srgbClr val="B45309"/>
                </a:solidFill>
              </a:rPr>
              <a:t>⏱ Costo de no actuar</a:t>
            </a:r>
            <a:endParaRPr lang="en-US" sz="850" dirty="0"/>
          </a:p>
        </p:txBody>
      </p:sp>
      <p:sp>
        <p:nvSpPr>
          <p:cNvPr id="18" name="Text 16"/>
          <p:cNvSpPr/>
          <p:nvPr/>
        </p:nvSpPr>
        <p:spPr>
          <a:xfrm>
            <a:off x="585216" y="4343400"/>
            <a:ext cx="3392424" cy="411480"/>
          </a:xfrm>
          <a:prstGeom prst="rect">
            <a:avLst/>
          </a:prstGeom>
          <a:noFill/>
          <a:ln/>
        </p:spPr>
        <p:txBody>
          <a:bodyPr wrap="square" rtlCol="0" anchor="t"/>
          <a:lstStyle/>
          <a:p>
            <a:pPr indent="0" marL="0">
              <a:buNone/>
            </a:pPr>
            <a:r>
              <a:rPr lang="en-US" sz="900" dirty="0">
                <a:solidFill>
                  <a:srgbClr val="1F2937"/>
                </a:solidFill>
              </a:rPr>
              <a:t>Tiempo de dirección consumido en consolidar información manualmente en lugar de decidir y crecer.</a:t>
            </a:r>
            <a:endParaRPr lang="en-US" sz="900" dirty="0"/>
          </a:p>
        </p:txBody>
      </p:sp>
      <p:sp>
        <p:nvSpPr>
          <p:cNvPr id="19" name="Shape 17"/>
          <p:cNvSpPr/>
          <p:nvPr/>
        </p:nvSpPr>
        <p:spPr>
          <a:xfrm>
            <a:off x="4215384" y="1691640"/>
            <a:ext cx="3648456" cy="3383280"/>
          </a:xfrm>
          <a:prstGeom prst="rect">
            <a:avLst/>
          </a:prstGeom>
          <a:solidFill>
            <a:srgbClr val="FFFFFF"/>
          </a:solidFill>
          <a:ln w="12700">
            <a:solidFill>
              <a:srgbClr val="D1D5DB"/>
            </a:solidFill>
            <a:prstDash val="solid"/>
          </a:ln>
        </p:spPr>
      </p:sp>
      <p:sp>
        <p:nvSpPr>
          <p:cNvPr id="20" name="Shape 18"/>
          <p:cNvSpPr/>
          <p:nvPr/>
        </p:nvSpPr>
        <p:spPr>
          <a:xfrm>
            <a:off x="4215384" y="1691640"/>
            <a:ext cx="3648456" cy="54864"/>
          </a:xfrm>
          <a:prstGeom prst="rect">
            <a:avLst/>
          </a:prstGeom>
          <a:solidFill>
            <a:srgbClr val="DC2626"/>
          </a:solidFill>
          <a:ln/>
        </p:spPr>
      </p:sp>
      <p:sp>
        <p:nvSpPr>
          <p:cNvPr id="21" name="Text 19"/>
          <p:cNvSpPr/>
          <p:nvPr/>
        </p:nvSpPr>
        <p:spPr>
          <a:xfrm>
            <a:off x="4325112" y="1828800"/>
            <a:ext cx="365760" cy="320040"/>
          </a:xfrm>
          <a:prstGeom prst="rect">
            <a:avLst/>
          </a:prstGeom>
          <a:noFill/>
          <a:ln/>
        </p:spPr>
        <p:txBody>
          <a:bodyPr wrap="square" rtlCol="0" anchor="ctr"/>
          <a:lstStyle/>
          <a:p>
            <a:pPr indent="0" marL="0">
              <a:buNone/>
            </a:pPr>
            <a:r>
              <a:rPr lang="en-US" sz="1400" b="1" dirty="0">
                <a:solidFill>
                  <a:srgbClr val="DC2626"/>
                </a:solidFill>
              </a:rPr>
              <a:t>#2</a:t>
            </a:r>
            <a:endParaRPr lang="en-US" sz="1400" dirty="0"/>
          </a:p>
        </p:txBody>
      </p:sp>
      <p:sp>
        <p:nvSpPr>
          <p:cNvPr id="22" name="Text 20"/>
          <p:cNvSpPr/>
          <p:nvPr/>
        </p:nvSpPr>
        <p:spPr>
          <a:xfrm>
            <a:off x="4325112" y="1828800"/>
            <a:ext cx="3419856" cy="457200"/>
          </a:xfrm>
          <a:prstGeom prst="rect">
            <a:avLst/>
          </a:prstGeom>
          <a:noFill/>
          <a:ln/>
        </p:spPr>
        <p:txBody>
          <a:bodyPr wrap="square" rtlCol="0" anchor="t"/>
          <a:lstStyle/>
          <a:p>
            <a:pPr indent="0" marL="0">
              <a:buNone/>
            </a:pPr>
            <a:r>
              <a:rPr lang="en-US" sz="1200" b="1" dirty="0">
                <a:solidFill>
                  <a:srgbClr val="1F2937"/>
                </a:solidFill>
              </a:rPr>
              <a:t>Cientos de correos sin filtrar, con dinero en juego</a:t>
            </a:r>
            <a:endParaRPr lang="en-US" sz="1200" dirty="0"/>
          </a:p>
        </p:txBody>
      </p:sp>
      <p:sp>
        <p:nvSpPr>
          <p:cNvPr id="23" name="Text 21"/>
          <p:cNvSpPr/>
          <p:nvPr/>
        </p:nvSpPr>
        <p:spPr>
          <a:xfrm>
            <a:off x="4325112" y="2350008"/>
            <a:ext cx="3419856" cy="777240"/>
          </a:xfrm>
          <a:prstGeom prst="rect">
            <a:avLst/>
          </a:prstGeom>
          <a:noFill/>
          <a:ln/>
        </p:spPr>
        <p:txBody>
          <a:bodyPr wrap="square" rtlCol="0" anchor="t"/>
          <a:lstStyle/>
          <a:p>
            <a:pPr indent="0" marL="0">
              <a:buNone/>
            </a:pPr>
            <a:r>
              <a:rPr lang="en-US" sz="1000" dirty="0">
                <a:solidFill>
                  <a:srgbClr val="1F2937"/>
                </a:solidFill>
              </a:rPr>
              <a:t>Navieras, terminales y brokers se comunican solo por correo. La bandeja se acumula a cientos por fin de semana y los correos perdidos se traducen en demoras de puerto y almacenajes.</a:t>
            </a:r>
            <a:endParaRPr lang="en-US" sz="1000" dirty="0"/>
          </a:p>
        </p:txBody>
      </p:sp>
      <p:sp>
        <p:nvSpPr>
          <p:cNvPr id="24" name="Shape 22"/>
          <p:cNvSpPr/>
          <p:nvPr/>
        </p:nvSpPr>
        <p:spPr>
          <a:xfrm>
            <a:off x="4288536" y="3200400"/>
            <a:ext cx="3493008" cy="822960"/>
          </a:xfrm>
          <a:prstGeom prst="rect">
            <a:avLst/>
          </a:prstGeom>
          <a:solidFill>
            <a:srgbClr val="F0FBFF"/>
          </a:solidFill>
          <a:ln w="12700">
            <a:solidFill>
              <a:srgbClr val="E0F2FE"/>
            </a:solidFill>
            <a:prstDash val="solid"/>
          </a:ln>
        </p:spPr>
      </p:sp>
      <p:sp>
        <p:nvSpPr>
          <p:cNvPr id="25" name="Text 23"/>
          <p:cNvSpPr/>
          <p:nvPr/>
        </p:nvSpPr>
        <p:spPr>
          <a:xfrm>
            <a:off x="4343400" y="3227832"/>
            <a:ext cx="3392424" cy="768096"/>
          </a:xfrm>
          <a:prstGeom prst="rect">
            <a:avLst/>
          </a:prstGeom>
          <a:noFill/>
          <a:ln/>
        </p:spPr>
        <p:txBody>
          <a:bodyPr wrap="square" rtlCol="0" anchor="ctr"/>
          <a:lstStyle/>
          <a:p>
            <a:pPr indent="0" marL="0">
              <a:buNone/>
            </a:pPr>
            <a:r>
              <a:rPr lang="en-US" sz="950" i="1" dirty="0">
                <a:solidFill>
                  <a:srgbClr val="0C1A2E"/>
                </a:solidFill>
              </a:rPr>
              <a:t>"Llegas el lunes y tu bandeja ya tiene 600 correos. Y todo lo que se maneja de contenedores con terminales y navieras es 100% correos."</a:t>
            </a:r>
            <a:endParaRPr lang="en-US" sz="950" dirty="0"/>
          </a:p>
        </p:txBody>
      </p:sp>
      <p:sp>
        <p:nvSpPr>
          <p:cNvPr id="26" name="Shape 24"/>
          <p:cNvSpPr/>
          <p:nvPr/>
        </p:nvSpPr>
        <p:spPr>
          <a:xfrm>
            <a:off x="4288536" y="4114800"/>
            <a:ext cx="3493008" cy="685800"/>
          </a:xfrm>
          <a:prstGeom prst="rect">
            <a:avLst/>
          </a:prstGeom>
          <a:solidFill>
            <a:srgbClr val="FFFBEB"/>
          </a:solidFill>
          <a:ln w="12700">
            <a:solidFill>
              <a:srgbClr val="F59E0B"/>
            </a:solidFill>
            <a:prstDash val="solid"/>
          </a:ln>
        </p:spPr>
      </p:sp>
      <p:sp>
        <p:nvSpPr>
          <p:cNvPr id="27" name="Text 25"/>
          <p:cNvSpPr/>
          <p:nvPr/>
        </p:nvSpPr>
        <p:spPr>
          <a:xfrm>
            <a:off x="4343400" y="4142232"/>
            <a:ext cx="3392424" cy="201168"/>
          </a:xfrm>
          <a:prstGeom prst="rect">
            <a:avLst/>
          </a:prstGeom>
          <a:noFill/>
          <a:ln/>
        </p:spPr>
        <p:txBody>
          <a:bodyPr wrap="none" rtlCol="0" anchor="ctr"/>
          <a:lstStyle/>
          <a:p>
            <a:pPr indent="0" marL="0">
              <a:buNone/>
            </a:pPr>
            <a:r>
              <a:rPr lang="en-US" sz="850" b="1" dirty="0">
                <a:solidFill>
                  <a:srgbClr val="B45309"/>
                </a:solidFill>
              </a:rPr>
              <a:t>⏱ Costo de no actuar</a:t>
            </a:r>
            <a:endParaRPr lang="en-US" sz="850" dirty="0"/>
          </a:p>
        </p:txBody>
      </p:sp>
      <p:sp>
        <p:nvSpPr>
          <p:cNvPr id="28" name="Text 26"/>
          <p:cNvSpPr/>
          <p:nvPr/>
        </p:nvSpPr>
        <p:spPr>
          <a:xfrm>
            <a:off x="4343400" y="4343400"/>
            <a:ext cx="3392424" cy="411480"/>
          </a:xfrm>
          <a:prstGeom prst="rect">
            <a:avLst/>
          </a:prstGeom>
          <a:noFill/>
          <a:ln/>
        </p:spPr>
        <p:txBody>
          <a:bodyPr wrap="square" rtlCol="0" anchor="t"/>
          <a:lstStyle/>
          <a:p>
            <a:pPr indent="0" marL="0">
              <a:buNone/>
            </a:pPr>
            <a:r>
              <a:rPr lang="en-US" sz="900" dirty="0">
                <a:solidFill>
                  <a:srgbClr val="1F2937"/>
                </a:solidFill>
              </a:rPr>
              <a:t>Cada correo crítico que se pierde puede convertirse en una demora de puerto o un almacenaje pagado de más.</a:t>
            </a:r>
            <a:endParaRPr lang="en-US" sz="900" dirty="0"/>
          </a:p>
        </p:txBody>
      </p:sp>
      <p:sp>
        <p:nvSpPr>
          <p:cNvPr id="29" name="Shape 27"/>
          <p:cNvSpPr/>
          <p:nvPr/>
        </p:nvSpPr>
        <p:spPr>
          <a:xfrm>
            <a:off x="7973568" y="1691640"/>
            <a:ext cx="3648456" cy="3383280"/>
          </a:xfrm>
          <a:prstGeom prst="rect">
            <a:avLst/>
          </a:prstGeom>
          <a:solidFill>
            <a:srgbClr val="FFFFFF"/>
          </a:solidFill>
          <a:ln w="12700">
            <a:solidFill>
              <a:srgbClr val="D1D5DB"/>
            </a:solidFill>
            <a:prstDash val="solid"/>
          </a:ln>
        </p:spPr>
      </p:sp>
      <p:sp>
        <p:nvSpPr>
          <p:cNvPr id="30" name="Shape 28"/>
          <p:cNvSpPr/>
          <p:nvPr/>
        </p:nvSpPr>
        <p:spPr>
          <a:xfrm>
            <a:off x="7973568" y="1691640"/>
            <a:ext cx="3648456" cy="54864"/>
          </a:xfrm>
          <a:prstGeom prst="rect">
            <a:avLst/>
          </a:prstGeom>
          <a:solidFill>
            <a:srgbClr val="DC2626"/>
          </a:solidFill>
          <a:ln/>
        </p:spPr>
      </p:sp>
      <p:sp>
        <p:nvSpPr>
          <p:cNvPr id="31" name="Text 29"/>
          <p:cNvSpPr/>
          <p:nvPr/>
        </p:nvSpPr>
        <p:spPr>
          <a:xfrm>
            <a:off x="8083296" y="1828800"/>
            <a:ext cx="365760" cy="320040"/>
          </a:xfrm>
          <a:prstGeom prst="rect">
            <a:avLst/>
          </a:prstGeom>
          <a:noFill/>
          <a:ln/>
        </p:spPr>
        <p:txBody>
          <a:bodyPr wrap="square" rtlCol="0" anchor="ctr"/>
          <a:lstStyle/>
          <a:p>
            <a:pPr indent="0" marL="0">
              <a:buNone/>
            </a:pPr>
            <a:r>
              <a:rPr lang="en-US" sz="1400" b="1" dirty="0">
                <a:solidFill>
                  <a:srgbClr val="DC2626"/>
                </a:solidFill>
              </a:rPr>
              <a:t>#3</a:t>
            </a:r>
            <a:endParaRPr lang="en-US" sz="1400" dirty="0"/>
          </a:p>
        </p:txBody>
      </p:sp>
      <p:sp>
        <p:nvSpPr>
          <p:cNvPr id="32" name="Text 30"/>
          <p:cNvSpPr/>
          <p:nvPr/>
        </p:nvSpPr>
        <p:spPr>
          <a:xfrm>
            <a:off x="8083296" y="1828800"/>
            <a:ext cx="3419856" cy="457200"/>
          </a:xfrm>
          <a:prstGeom prst="rect">
            <a:avLst/>
          </a:prstGeom>
          <a:noFill/>
          <a:ln/>
        </p:spPr>
        <p:txBody>
          <a:bodyPr wrap="square" rtlCol="0" anchor="t"/>
          <a:lstStyle/>
          <a:p>
            <a:pPr indent="0" marL="0">
              <a:buNone/>
            </a:pPr>
            <a:r>
              <a:rPr lang="en-US" sz="1200" b="1" dirty="0">
                <a:solidFill>
                  <a:srgbClr val="1F2937"/>
                </a:solidFill>
              </a:rPr>
              <a:t>Sin expediente de los activos, justo cuando la flota se duplica</a:t>
            </a:r>
            <a:endParaRPr lang="en-US" sz="1200" dirty="0"/>
          </a:p>
        </p:txBody>
      </p:sp>
      <p:sp>
        <p:nvSpPr>
          <p:cNvPr id="33" name="Text 31"/>
          <p:cNvSpPr/>
          <p:nvPr/>
        </p:nvSpPr>
        <p:spPr>
          <a:xfrm>
            <a:off x="8083296" y="2350008"/>
            <a:ext cx="3419856" cy="777240"/>
          </a:xfrm>
          <a:prstGeom prst="rect">
            <a:avLst/>
          </a:prstGeom>
          <a:noFill/>
          <a:ln/>
        </p:spPr>
        <p:txBody>
          <a:bodyPr wrap="square" rtlCol="0" anchor="t"/>
          <a:lstStyle/>
          <a:p>
            <a:pPr indent="0" marL="0">
              <a:buNone/>
            </a:pPr>
            <a:r>
              <a:rPr lang="en-US" sz="1000" dirty="0">
                <a:solidFill>
                  <a:srgbClr val="1F2937"/>
                </a:solidFill>
              </a:rPr>
              <a:t>Con 120+ vehículos y 10 camiones nuevos entrando, no hay hoja de vida por unidad: no se detecta a tiempo cuándo una unidad ya costó más de lo que vale, ni se controlan inspecciones y vencimientos.</a:t>
            </a:r>
            <a:endParaRPr lang="en-US" sz="1000" dirty="0"/>
          </a:p>
        </p:txBody>
      </p:sp>
      <p:sp>
        <p:nvSpPr>
          <p:cNvPr id="34" name="Shape 32"/>
          <p:cNvSpPr/>
          <p:nvPr/>
        </p:nvSpPr>
        <p:spPr>
          <a:xfrm>
            <a:off x="8046720" y="3200400"/>
            <a:ext cx="3493008" cy="822960"/>
          </a:xfrm>
          <a:prstGeom prst="rect">
            <a:avLst/>
          </a:prstGeom>
          <a:solidFill>
            <a:srgbClr val="F0FBFF"/>
          </a:solidFill>
          <a:ln w="12700">
            <a:solidFill>
              <a:srgbClr val="E0F2FE"/>
            </a:solidFill>
            <a:prstDash val="solid"/>
          </a:ln>
        </p:spPr>
      </p:sp>
      <p:sp>
        <p:nvSpPr>
          <p:cNvPr id="35" name="Text 33"/>
          <p:cNvSpPr/>
          <p:nvPr/>
        </p:nvSpPr>
        <p:spPr>
          <a:xfrm>
            <a:off x="8101584" y="3227832"/>
            <a:ext cx="3392424" cy="768096"/>
          </a:xfrm>
          <a:prstGeom prst="rect">
            <a:avLst/>
          </a:prstGeom>
          <a:noFill/>
          <a:ln/>
        </p:spPr>
        <p:txBody>
          <a:bodyPr wrap="square" rtlCol="0" anchor="ctr"/>
          <a:lstStyle/>
          <a:p>
            <a:pPr indent="0" marL="0">
              <a:buNone/>
            </a:pPr>
            <a:r>
              <a:rPr lang="en-US" sz="950" i="1" dirty="0">
                <a:solidFill>
                  <a:srgbClr val="0C1A2E"/>
                </a:solidFill>
              </a:rPr>
              <a:t>"Como ya veo una estadística alarmante, esta unidad ya se le metió más de lo que cuesta. Entonces todas las unidades tener como un expediente."</a:t>
            </a:r>
            <a:endParaRPr lang="en-US" sz="950" dirty="0"/>
          </a:p>
        </p:txBody>
      </p:sp>
      <p:sp>
        <p:nvSpPr>
          <p:cNvPr id="36" name="Shape 34"/>
          <p:cNvSpPr/>
          <p:nvPr/>
        </p:nvSpPr>
        <p:spPr>
          <a:xfrm>
            <a:off x="8046720" y="4114800"/>
            <a:ext cx="3493008" cy="685800"/>
          </a:xfrm>
          <a:prstGeom prst="rect">
            <a:avLst/>
          </a:prstGeom>
          <a:solidFill>
            <a:srgbClr val="FFFBEB"/>
          </a:solidFill>
          <a:ln w="12700">
            <a:solidFill>
              <a:srgbClr val="F59E0B"/>
            </a:solidFill>
            <a:prstDash val="solid"/>
          </a:ln>
        </p:spPr>
      </p:sp>
      <p:sp>
        <p:nvSpPr>
          <p:cNvPr id="37" name="Text 35"/>
          <p:cNvSpPr/>
          <p:nvPr/>
        </p:nvSpPr>
        <p:spPr>
          <a:xfrm>
            <a:off x="8101584" y="4142232"/>
            <a:ext cx="3392424" cy="201168"/>
          </a:xfrm>
          <a:prstGeom prst="rect">
            <a:avLst/>
          </a:prstGeom>
          <a:noFill/>
          <a:ln/>
        </p:spPr>
        <p:txBody>
          <a:bodyPr wrap="none" rtlCol="0" anchor="ctr"/>
          <a:lstStyle/>
          <a:p>
            <a:pPr indent="0" marL="0">
              <a:buNone/>
            </a:pPr>
            <a:r>
              <a:rPr lang="en-US" sz="850" b="1" dirty="0">
                <a:solidFill>
                  <a:srgbClr val="B45309"/>
                </a:solidFill>
              </a:rPr>
              <a:t>⏱ Costo de no actuar</a:t>
            </a:r>
            <a:endParaRPr lang="en-US" sz="850" dirty="0"/>
          </a:p>
        </p:txBody>
      </p:sp>
      <p:sp>
        <p:nvSpPr>
          <p:cNvPr id="38" name="Text 36"/>
          <p:cNvSpPr/>
          <p:nvPr/>
        </p:nvSpPr>
        <p:spPr>
          <a:xfrm>
            <a:off x="8101584" y="4343400"/>
            <a:ext cx="3392424" cy="411480"/>
          </a:xfrm>
          <a:prstGeom prst="rect">
            <a:avLst/>
          </a:prstGeom>
          <a:noFill/>
          <a:ln/>
        </p:spPr>
        <p:txBody>
          <a:bodyPr wrap="square" rtlCol="0" anchor="t"/>
          <a:lstStyle/>
          <a:p>
            <a:pPr indent="0" marL="0">
              <a:buNone/>
            </a:pPr>
            <a:r>
              <a:rPr lang="en-US" sz="900" dirty="0">
                <a:solidFill>
                  <a:srgbClr val="1F2937"/>
                </a:solidFill>
              </a:rPr>
              <a:t>Sobre-inversión en unidades que deberían darse de baja y riesgo de multas por vencimientos no controlados.</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88952" cy="502920"/>
          </a:xfrm>
          <a:prstGeom prst="rect">
            <a:avLst/>
          </a:prstGeom>
          <a:solidFill>
            <a:srgbClr val="0C1A2E"/>
          </a:solidFill>
          <a:ln/>
        </p:spPr>
      </p:sp>
      <p:sp>
        <p:nvSpPr>
          <p:cNvPr id="3" name="Text 1"/>
          <p:cNvSpPr/>
          <p:nvPr/>
        </p:nvSpPr>
        <p:spPr>
          <a:xfrm>
            <a:off x="274320" y="0"/>
            <a:ext cx="2743200" cy="502920"/>
          </a:xfrm>
          <a:prstGeom prst="rect">
            <a:avLst/>
          </a:prstGeom>
          <a:noFill/>
          <a:ln/>
        </p:spPr>
        <p:txBody>
          <a:bodyPr wrap="square" rtlCol="0" anchor="ctr"/>
          <a:lstStyle/>
          <a:p>
            <a:pPr indent="0" marL="0">
              <a:buNone/>
            </a:pPr>
            <a:r>
              <a:rPr lang="en-US" sz="1100" b="1" dirty="0">
                <a:solidFill>
                  <a:srgbClr val="FFFFFF"/>
                </a:solidFill>
              </a:rPr>
              <a:t>NEXOSTRAT</a:t>
            </a:r>
            <a:endParaRPr lang="en-US" sz="1100" dirty="0"/>
          </a:p>
        </p:txBody>
      </p:sp>
      <p:sp>
        <p:nvSpPr>
          <p:cNvPr id="4" name="Text 2"/>
          <p:cNvSpPr/>
          <p:nvPr/>
        </p:nvSpPr>
        <p:spPr>
          <a:xfrm>
            <a:off x="411480" y="640080"/>
            <a:ext cx="11365992" cy="594360"/>
          </a:xfrm>
          <a:prstGeom prst="rect">
            <a:avLst/>
          </a:prstGeom>
          <a:noFill/>
          <a:ln/>
        </p:spPr>
        <p:txBody>
          <a:bodyPr wrap="square" rtlCol="0" anchor="ctr"/>
          <a:lstStyle/>
          <a:p>
            <a:pPr indent="0" marL="0">
              <a:buNone/>
            </a:pPr>
            <a:r>
              <a:rPr lang="en-US" sz="2800" b="1" dirty="0">
                <a:solidFill>
                  <a:srgbClr val="0C1A2E"/>
                </a:solidFill>
                <a:latin typeface="Inter" pitchFamily="34" charset="0"/>
                <a:ea typeface="Inter" pitchFamily="34" charset="-122"/>
                <a:cs typeface="Inter" pitchFamily="34" charset="-120"/>
              </a:rPr>
              <a:t>Las oportunidades de IA</a:t>
            </a:r>
            <a:endParaRPr lang="en-US" sz="2800" dirty="0"/>
          </a:p>
        </p:txBody>
      </p:sp>
      <p:sp>
        <p:nvSpPr>
          <p:cNvPr id="5" name="Text 3"/>
          <p:cNvSpPr/>
          <p:nvPr/>
        </p:nvSpPr>
        <p:spPr>
          <a:xfrm>
            <a:off x="411480" y="1234440"/>
            <a:ext cx="11365992" cy="320040"/>
          </a:xfrm>
          <a:prstGeom prst="rect">
            <a:avLst/>
          </a:prstGeom>
          <a:noFill/>
          <a:ln/>
        </p:spPr>
        <p:txBody>
          <a:bodyPr wrap="square" rtlCol="0" anchor="ctr"/>
          <a:lstStyle/>
          <a:p>
            <a:pPr indent="0" marL="0">
              <a:buNone/>
            </a:pPr>
            <a:r>
              <a:rPr lang="en-US" sz="1300" dirty="0">
                <a:solidFill>
                  <a:srgbClr val="6B7280"/>
                </a:solidFill>
                <a:latin typeface="Inter" pitchFamily="34" charset="0"/>
                <a:ea typeface="Inter" pitchFamily="34" charset="-122"/>
                <a:cs typeface="Inter" pitchFamily="34" charset="-120"/>
              </a:rPr>
              <a:t>Identificamos 5 oportunidades específicas para Grupo Trixx</a:t>
            </a:r>
            <a:endParaRPr lang="en-US" sz="1300" dirty="0"/>
          </a:p>
        </p:txBody>
      </p:sp>
      <p:sp>
        <p:nvSpPr>
          <p:cNvPr id="6" name="Shape 4"/>
          <p:cNvSpPr/>
          <p:nvPr/>
        </p:nvSpPr>
        <p:spPr>
          <a:xfrm>
            <a:off x="0" y="6537960"/>
            <a:ext cx="12188952" cy="320040"/>
          </a:xfrm>
          <a:prstGeom prst="rect">
            <a:avLst/>
          </a:prstGeom>
          <a:solidFill>
            <a:srgbClr val="D1D5DB"/>
          </a:solidFill>
          <a:ln/>
        </p:spPr>
      </p:sp>
      <p:sp>
        <p:nvSpPr>
          <p:cNvPr id="7" name="Text 5"/>
          <p:cNvSpPr/>
          <p:nvPr/>
        </p:nvSpPr>
        <p:spPr>
          <a:xfrm>
            <a:off x="274320" y="6537960"/>
            <a:ext cx="5486400" cy="320040"/>
          </a:xfrm>
          <a:prstGeom prst="rect">
            <a:avLst/>
          </a:prstGeom>
          <a:noFill/>
          <a:ln/>
        </p:spPr>
        <p:txBody>
          <a:bodyPr wrap="square" rtlCol="0" anchor="ctr"/>
          <a:lstStyle/>
          <a:p>
            <a:pPr indent="0" marL="0">
              <a:buNone/>
            </a:pPr>
            <a:r>
              <a:rPr lang="en-US" sz="900" dirty="0">
                <a:solidFill>
                  <a:srgbClr val="6B7280"/>
                </a:solidFill>
              </a:rPr>
              <a:t>Grupo Trixx · 28 de mayo de 2026</a:t>
            </a:r>
            <a:endParaRPr lang="en-US" sz="900" dirty="0"/>
          </a:p>
        </p:txBody>
      </p:sp>
      <p:sp>
        <p:nvSpPr>
          <p:cNvPr id="8" name="Text 6"/>
          <p:cNvSpPr/>
          <p:nvPr/>
        </p:nvSpPr>
        <p:spPr>
          <a:xfrm>
            <a:off x="9445752" y="6537960"/>
            <a:ext cx="2468880" cy="320040"/>
          </a:xfrm>
          <a:prstGeom prst="rect">
            <a:avLst/>
          </a:prstGeom>
          <a:noFill/>
          <a:ln/>
        </p:spPr>
        <p:txBody>
          <a:bodyPr wrap="square" rtlCol="0" anchor="ctr"/>
          <a:lstStyle/>
          <a:p>
            <a:pPr algn="r" indent="0" marL="0">
              <a:buNone/>
            </a:pPr>
            <a:r>
              <a:rPr lang="en-US" sz="900" dirty="0">
                <a:solidFill>
                  <a:srgbClr val="6B7280"/>
                </a:solidFill>
              </a:rPr>
              <a:t>nexostrat.co</a:t>
            </a:r>
            <a:endParaRPr lang="en-US" sz="900" dirty="0"/>
          </a:p>
        </p:txBody>
      </p:sp>
      <p:sp>
        <p:nvSpPr>
          <p:cNvPr id="9" name="Shape 7"/>
          <p:cNvSpPr/>
          <p:nvPr/>
        </p:nvSpPr>
        <p:spPr>
          <a:xfrm>
            <a:off x="457200" y="1691640"/>
            <a:ext cx="3648456" cy="2240280"/>
          </a:xfrm>
          <a:prstGeom prst="rect">
            <a:avLst/>
          </a:prstGeom>
          <a:solidFill>
            <a:srgbClr val="ECFDF5"/>
          </a:solidFill>
          <a:ln w="25400">
            <a:solidFill>
              <a:srgbClr val="10B981"/>
            </a:solidFill>
            <a:prstDash val="solid"/>
          </a:ln>
        </p:spPr>
      </p:sp>
      <p:sp>
        <p:nvSpPr>
          <p:cNvPr id="10" name="Shape 8"/>
          <p:cNvSpPr/>
          <p:nvPr/>
        </p:nvSpPr>
        <p:spPr>
          <a:xfrm>
            <a:off x="457200" y="1691640"/>
            <a:ext cx="36576" cy="2240280"/>
          </a:xfrm>
          <a:prstGeom prst="rect">
            <a:avLst/>
          </a:prstGeom>
          <a:solidFill>
            <a:srgbClr val="10B981"/>
          </a:solidFill>
          <a:ln/>
        </p:spPr>
      </p:sp>
      <p:sp>
        <p:nvSpPr>
          <p:cNvPr id="11" name="Text 9"/>
          <p:cNvSpPr/>
          <p:nvPr/>
        </p:nvSpPr>
        <p:spPr>
          <a:xfrm>
            <a:off x="3099816" y="1764792"/>
            <a:ext cx="914400" cy="201168"/>
          </a:xfrm>
          <a:prstGeom prst="rect">
            <a:avLst/>
          </a:prstGeom>
          <a:noFill/>
          <a:ln/>
        </p:spPr>
        <p:txBody>
          <a:bodyPr wrap="square" rtlCol="0" anchor="ctr"/>
          <a:lstStyle/>
          <a:p>
            <a:pPr algn="r" indent="0" marL="0">
              <a:buNone/>
            </a:pPr>
            <a:r>
              <a:rPr lang="en-US" sz="800" b="1" dirty="0">
                <a:solidFill>
                  <a:srgbClr val="10B981"/>
                </a:solidFill>
              </a:rPr>
              <a:t>Quick Win</a:t>
            </a:r>
            <a:endParaRPr lang="en-US" sz="800" dirty="0"/>
          </a:p>
        </p:txBody>
      </p:sp>
      <p:sp>
        <p:nvSpPr>
          <p:cNvPr id="12" name="Text 10"/>
          <p:cNvSpPr/>
          <p:nvPr/>
        </p:nvSpPr>
        <p:spPr>
          <a:xfrm>
            <a:off x="566928" y="1764792"/>
            <a:ext cx="2505456" cy="320040"/>
          </a:xfrm>
          <a:prstGeom prst="rect">
            <a:avLst/>
          </a:prstGeom>
          <a:noFill/>
          <a:ln/>
        </p:spPr>
        <p:txBody>
          <a:bodyPr wrap="square" rtlCol="0" anchor="ctr"/>
          <a:lstStyle/>
          <a:p>
            <a:pPr indent="0" marL="0">
              <a:buNone/>
            </a:pPr>
            <a:r>
              <a:rPr lang="en-US" sz="1100" b="1" dirty="0">
                <a:solidFill>
                  <a:srgbClr val="0C1A2E"/>
                </a:solidFill>
              </a:rPr>
              <a:t>Asistente de WhatsApp que organiza la información</a:t>
            </a:r>
            <a:endParaRPr lang="en-US" sz="1100" dirty="0"/>
          </a:p>
        </p:txBody>
      </p:sp>
      <p:sp>
        <p:nvSpPr>
          <p:cNvPr id="13" name="Text 11"/>
          <p:cNvSpPr/>
          <p:nvPr/>
        </p:nvSpPr>
        <p:spPr>
          <a:xfrm>
            <a:off x="566928" y="2075688"/>
            <a:ext cx="3465576" cy="182880"/>
          </a:xfrm>
          <a:prstGeom prst="rect">
            <a:avLst/>
          </a:prstGeom>
          <a:noFill/>
          <a:ln/>
        </p:spPr>
        <p:txBody>
          <a:bodyPr wrap="square" rtlCol="0" anchor="ctr"/>
          <a:lstStyle/>
          <a:p>
            <a:pPr indent="0" marL="0">
              <a:buNone/>
            </a:pPr>
            <a:r>
              <a:rPr lang="en-US" sz="900" dirty="0">
                <a:solidFill>
                  <a:srgbClr val="6B7280"/>
                </a:solidFill>
              </a:rPr>
              <a:t>Información y coordinación interna</a:t>
            </a:r>
            <a:endParaRPr lang="en-US" sz="900" dirty="0"/>
          </a:p>
        </p:txBody>
      </p:sp>
      <p:sp>
        <p:nvSpPr>
          <p:cNvPr id="14" name="Text 12"/>
          <p:cNvSpPr/>
          <p:nvPr/>
        </p:nvSpPr>
        <p:spPr>
          <a:xfrm>
            <a:off x="566928" y="2258568"/>
            <a:ext cx="3465576" cy="1280160"/>
          </a:xfrm>
          <a:prstGeom prst="rect">
            <a:avLst/>
          </a:prstGeom>
          <a:noFill/>
          <a:ln/>
        </p:spPr>
        <p:txBody>
          <a:bodyPr wrap="square" rtlCol="0" anchor="t"/>
          <a:lstStyle/>
          <a:p>
            <a:pPr indent="0" marL="0">
              <a:buNone/>
            </a:pPr>
            <a:r>
              <a:rPr lang="en-US" sz="950" dirty="0">
                <a:solidFill>
                  <a:srgbClr val="1F2937"/>
                </a:solidFill>
              </a:rPr>
              <a:t>Un asistente inteligente conectado a los grupos de WhatsApp que lee los mensajes, distingue lo importante y extrae los datos de fotos, PDF, Excel y hojas escritas a mano, organizándolos solo en el documento central y generando alertas. El equipo sigue usando WhatsApp igual que hoy.</a:t>
            </a:r>
            <a:endParaRPr lang="en-US" sz="950" dirty="0"/>
          </a:p>
        </p:txBody>
      </p:sp>
      <p:sp>
        <p:nvSpPr>
          <p:cNvPr id="15" name="Text 13"/>
          <p:cNvSpPr/>
          <p:nvPr/>
        </p:nvSpPr>
        <p:spPr>
          <a:xfrm>
            <a:off x="566928" y="3639312"/>
            <a:ext cx="3465576" cy="256032"/>
          </a:xfrm>
          <a:prstGeom prst="rect">
            <a:avLst/>
          </a:prstGeom>
          <a:noFill/>
          <a:ln/>
        </p:spPr>
        <p:txBody>
          <a:bodyPr wrap="square" rtlCol="0" anchor="ctr"/>
          <a:lstStyle/>
          <a:p>
            <a:pPr indent="0" marL="0">
              <a:buNone/>
            </a:pPr>
            <a:r>
              <a:rPr lang="en-US" sz="950" b="1" dirty="0">
                <a:solidFill>
                  <a:srgbClr val="10B981"/>
                </a:solidFill>
              </a:rPr>
              <a:t>USD 3,000</a:t>
            </a:r>
            <a:endParaRPr lang="en-US" sz="950" dirty="0"/>
          </a:p>
        </p:txBody>
      </p:sp>
      <p:sp>
        <p:nvSpPr>
          <p:cNvPr id="16" name="Shape 14"/>
          <p:cNvSpPr/>
          <p:nvPr/>
        </p:nvSpPr>
        <p:spPr>
          <a:xfrm>
            <a:off x="4215384" y="1691640"/>
            <a:ext cx="3648456" cy="2240280"/>
          </a:xfrm>
          <a:prstGeom prst="rect">
            <a:avLst/>
          </a:prstGeom>
          <a:solidFill>
            <a:srgbClr val="F5F5F5"/>
          </a:solidFill>
          <a:ln w="12700">
            <a:solidFill>
              <a:srgbClr val="D1D5DB"/>
            </a:solidFill>
            <a:prstDash val="solid"/>
          </a:ln>
        </p:spPr>
      </p:sp>
      <p:sp>
        <p:nvSpPr>
          <p:cNvPr id="17" name="Shape 15"/>
          <p:cNvSpPr/>
          <p:nvPr/>
        </p:nvSpPr>
        <p:spPr>
          <a:xfrm>
            <a:off x="4215384" y="1691640"/>
            <a:ext cx="36576" cy="2240280"/>
          </a:xfrm>
          <a:prstGeom prst="rect">
            <a:avLst/>
          </a:prstGeom>
          <a:solidFill>
            <a:srgbClr val="0C1A2E"/>
          </a:solidFill>
          <a:ln/>
        </p:spPr>
      </p:sp>
      <p:sp>
        <p:nvSpPr>
          <p:cNvPr id="18" name="Text 16"/>
          <p:cNvSpPr/>
          <p:nvPr/>
        </p:nvSpPr>
        <p:spPr>
          <a:xfrm>
            <a:off x="4325112" y="1764792"/>
            <a:ext cx="3465576" cy="320040"/>
          </a:xfrm>
          <a:prstGeom prst="rect">
            <a:avLst/>
          </a:prstGeom>
          <a:noFill/>
          <a:ln/>
        </p:spPr>
        <p:txBody>
          <a:bodyPr wrap="square" rtlCol="0" anchor="ctr"/>
          <a:lstStyle/>
          <a:p>
            <a:pPr indent="0" marL="0">
              <a:buNone/>
            </a:pPr>
            <a:r>
              <a:rPr lang="en-US" sz="1100" b="1" dirty="0">
                <a:solidFill>
                  <a:srgbClr val="0C1A2E"/>
                </a:solidFill>
              </a:rPr>
              <a:t>Filtros inteligentes de correo</a:t>
            </a:r>
            <a:endParaRPr lang="en-US" sz="1100" dirty="0"/>
          </a:p>
        </p:txBody>
      </p:sp>
      <p:sp>
        <p:nvSpPr>
          <p:cNvPr id="19" name="Text 17"/>
          <p:cNvSpPr/>
          <p:nvPr/>
        </p:nvSpPr>
        <p:spPr>
          <a:xfrm>
            <a:off x="4325112" y="2075688"/>
            <a:ext cx="3465576" cy="182880"/>
          </a:xfrm>
          <a:prstGeom prst="rect">
            <a:avLst/>
          </a:prstGeom>
          <a:noFill/>
          <a:ln/>
        </p:spPr>
        <p:txBody>
          <a:bodyPr wrap="square" rtlCol="0" anchor="ctr"/>
          <a:lstStyle/>
          <a:p>
            <a:pPr indent="0" marL="0">
              <a:buNone/>
            </a:pPr>
            <a:r>
              <a:rPr lang="en-US" sz="900" dirty="0">
                <a:solidFill>
                  <a:srgbClr val="6B7280"/>
                </a:solidFill>
              </a:rPr>
              <a:t>Operación de contenedores y correo</a:t>
            </a:r>
            <a:endParaRPr lang="en-US" sz="900" dirty="0"/>
          </a:p>
        </p:txBody>
      </p:sp>
      <p:sp>
        <p:nvSpPr>
          <p:cNvPr id="20" name="Text 18"/>
          <p:cNvSpPr/>
          <p:nvPr/>
        </p:nvSpPr>
        <p:spPr>
          <a:xfrm>
            <a:off x="4325112" y="2258568"/>
            <a:ext cx="3465576" cy="1280160"/>
          </a:xfrm>
          <a:prstGeom prst="rect">
            <a:avLst/>
          </a:prstGeom>
          <a:noFill/>
          <a:ln/>
        </p:spPr>
        <p:txBody>
          <a:bodyPr wrap="square" rtlCol="0" anchor="t"/>
          <a:lstStyle/>
          <a:p>
            <a:pPr indent="0" marL="0">
              <a:buNone/>
            </a:pPr>
            <a:r>
              <a:rPr lang="en-US" sz="950" dirty="0">
                <a:solidFill>
                  <a:srgbClr val="1F2937"/>
                </a:solidFill>
              </a:rPr>
              <a:t>Una capa de inteligencia sobre el correo que lee cada mensaje de navieras, terminales y brokers, lo clasifica, lo archiva, extrae la información accionable y genera alertas. Incluye sanear la entrega del correo, que hoy no llega bien a Gmail/Hotmail.</a:t>
            </a:r>
            <a:endParaRPr lang="en-US" sz="950" dirty="0"/>
          </a:p>
        </p:txBody>
      </p:sp>
      <p:sp>
        <p:nvSpPr>
          <p:cNvPr id="21" name="Text 19"/>
          <p:cNvSpPr/>
          <p:nvPr/>
        </p:nvSpPr>
        <p:spPr>
          <a:xfrm>
            <a:off x="4325112" y="3639312"/>
            <a:ext cx="3465576" cy="256032"/>
          </a:xfrm>
          <a:prstGeom prst="rect">
            <a:avLst/>
          </a:prstGeom>
          <a:noFill/>
          <a:ln/>
        </p:spPr>
        <p:txBody>
          <a:bodyPr wrap="square" rtlCol="0" anchor="ctr"/>
          <a:lstStyle/>
          <a:p>
            <a:pPr indent="0" marL="0">
              <a:buNone/>
            </a:pPr>
            <a:r>
              <a:rPr lang="en-US" sz="950" b="1" dirty="0">
                <a:solidFill>
                  <a:srgbClr val="0C1A2E"/>
                </a:solidFill>
              </a:rPr>
              <a:t>USD 3,000</a:t>
            </a:r>
            <a:endParaRPr lang="en-US" sz="950" dirty="0"/>
          </a:p>
        </p:txBody>
      </p:sp>
      <p:sp>
        <p:nvSpPr>
          <p:cNvPr id="22" name="Shape 20"/>
          <p:cNvSpPr/>
          <p:nvPr/>
        </p:nvSpPr>
        <p:spPr>
          <a:xfrm>
            <a:off x="7973568" y="1691640"/>
            <a:ext cx="3648456" cy="2240280"/>
          </a:xfrm>
          <a:prstGeom prst="rect">
            <a:avLst/>
          </a:prstGeom>
          <a:solidFill>
            <a:srgbClr val="ECFDF5"/>
          </a:solidFill>
          <a:ln w="25400">
            <a:solidFill>
              <a:srgbClr val="10B981"/>
            </a:solidFill>
            <a:prstDash val="solid"/>
          </a:ln>
        </p:spPr>
      </p:sp>
      <p:sp>
        <p:nvSpPr>
          <p:cNvPr id="23" name="Shape 21"/>
          <p:cNvSpPr/>
          <p:nvPr/>
        </p:nvSpPr>
        <p:spPr>
          <a:xfrm>
            <a:off x="7973568" y="1691640"/>
            <a:ext cx="36576" cy="2240280"/>
          </a:xfrm>
          <a:prstGeom prst="rect">
            <a:avLst/>
          </a:prstGeom>
          <a:solidFill>
            <a:srgbClr val="10B981"/>
          </a:solidFill>
          <a:ln/>
        </p:spPr>
      </p:sp>
      <p:sp>
        <p:nvSpPr>
          <p:cNvPr id="24" name="Text 22"/>
          <p:cNvSpPr/>
          <p:nvPr/>
        </p:nvSpPr>
        <p:spPr>
          <a:xfrm>
            <a:off x="10616184" y="1764792"/>
            <a:ext cx="914400" cy="201168"/>
          </a:xfrm>
          <a:prstGeom prst="rect">
            <a:avLst/>
          </a:prstGeom>
          <a:noFill/>
          <a:ln/>
        </p:spPr>
        <p:txBody>
          <a:bodyPr wrap="square" rtlCol="0" anchor="ctr"/>
          <a:lstStyle/>
          <a:p>
            <a:pPr algn="r" indent="0" marL="0">
              <a:buNone/>
            </a:pPr>
            <a:r>
              <a:rPr lang="en-US" sz="800" b="1" dirty="0">
                <a:solidFill>
                  <a:srgbClr val="10B981"/>
                </a:solidFill>
              </a:rPr>
              <a:t>Quick Win</a:t>
            </a:r>
            <a:endParaRPr lang="en-US" sz="800" dirty="0"/>
          </a:p>
        </p:txBody>
      </p:sp>
      <p:sp>
        <p:nvSpPr>
          <p:cNvPr id="25" name="Text 23"/>
          <p:cNvSpPr/>
          <p:nvPr/>
        </p:nvSpPr>
        <p:spPr>
          <a:xfrm>
            <a:off x="8083296" y="1764792"/>
            <a:ext cx="2505456" cy="320040"/>
          </a:xfrm>
          <a:prstGeom prst="rect">
            <a:avLst/>
          </a:prstGeom>
          <a:noFill/>
          <a:ln/>
        </p:spPr>
        <p:txBody>
          <a:bodyPr wrap="square" rtlCol="0" anchor="ctr"/>
          <a:lstStyle/>
          <a:p>
            <a:pPr indent="0" marL="0">
              <a:buNone/>
            </a:pPr>
            <a:r>
              <a:rPr lang="en-US" sz="1100" b="1" dirty="0">
                <a:solidFill>
                  <a:srgbClr val="0C1A2E"/>
                </a:solidFill>
              </a:rPr>
              <a:t>Documentos vivos con un tablero maestro</a:t>
            </a:r>
            <a:endParaRPr lang="en-US" sz="1100" dirty="0"/>
          </a:p>
        </p:txBody>
      </p:sp>
      <p:sp>
        <p:nvSpPr>
          <p:cNvPr id="26" name="Text 24"/>
          <p:cNvSpPr/>
          <p:nvPr/>
        </p:nvSpPr>
        <p:spPr>
          <a:xfrm>
            <a:off x="8083296" y="2075688"/>
            <a:ext cx="3465576" cy="182880"/>
          </a:xfrm>
          <a:prstGeom prst="rect">
            <a:avLst/>
          </a:prstGeom>
          <a:noFill/>
          <a:ln/>
        </p:spPr>
        <p:txBody>
          <a:bodyPr wrap="square" rtlCol="0" anchor="ctr"/>
          <a:lstStyle/>
          <a:p>
            <a:pPr indent="0" marL="0">
              <a:buNone/>
            </a:pPr>
            <a:r>
              <a:rPr lang="en-US" sz="900" dirty="0">
                <a:solidFill>
                  <a:srgbClr val="6B7280"/>
                </a:solidFill>
              </a:rPr>
              <a:t>Información y coordinación interna</a:t>
            </a:r>
            <a:endParaRPr lang="en-US" sz="900" dirty="0"/>
          </a:p>
        </p:txBody>
      </p:sp>
      <p:sp>
        <p:nvSpPr>
          <p:cNvPr id="27" name="Text 25"/>
          <p:cNvSpPr/>
          <p:nvPr/>
        </p:nvSpPr>
        <p:spPr>
          <a:xfrm>
            <a:off x="8083296" y="2258568"/>
            <a:ext cx="3465576" cy="1280160"/>
          </a:xfrm>
          <a:prstGeom prst="rect">
            <a:avLst/>
          </a:prstGeom>
          <a:noFill/>
          <a:ln/>
        </p:spPr>
        <p:txBody>
          <a:bodyPr wrap="square" rtlCol="0" anchor="t"/>
          <a:lstStyle/>
          <a:p>
            <a:pPr indent="0" marL="0">
              <a:buNone/>
            </a:pPr>
            <a:r>
              <a:rPr lang="en-US" sz="950" dirty="0">
                <a:solidFill>
                  <a:srgbClr val="1F2937"/>
                </a:solidFill>
              </a:rPr>
              <a:t>Cada persona mantiene su propia hoja y todas alimentan en tiempo real un documento maestro donde la dirección ve la información consolidada, con permisos por rol. El orden de una plataforma como Monday se logra sobre la herramienta que ustedes ya tengan, y la información de Monday y Tracking Premium se puede llevar a un solo lugar.</a:t>
            </a:r>
            <a:endParaRPr lang="en-US" sz="950" dirty="0"/>
          </a:p>
        </p:txBody>
      </p:sp>
      <p:sp>
        <p:nvSpPr>
          <p:cNvPr id="28" name="Text 26"/>
          <p:cNvSpPr/>
          <p:nvPr/>
        </p:nvSpPr>
        <p:spPr>
          <a:xfrm>
            <a:off x="8083296" y="3639312"/>
            <a:ext cx="3465576" cy="256032"/>
          </a:xfrm>
          <a:prstGeom prst="rect">
            <a:avLst/>
          </a:prstGeom>
          <a:noFill/>
          <a:ln/>
        </p:spPr>
        <p:txBody>
          <a:bodyPr wrap="square" rtlCol="0" anchor="ctr"/>
          <a:lstStyle/>
          <a:p>
            <a:pPr indent="0" marL="0">
              <a:buNone/>
            </a:pPr>
            <a:r>
              <a:rPr lang="en-US" sz="950" b="1" dirty="0">
                <a:solidFill>
                  <a:srgbClr val="10B981"/>
                </a:solidFill>
              </a:rPr>
              <a:t>USD 3,000</a:t>
            </a:r>
            <a:endParaRPr lang="en-US" sz="950" dirty="0"/>
          </a:p>
        </p:txBody>
      </p:sp>
      <p:sp>
        <p:nvSpPr>
          <p:cNvPr id="29" name="Shape 27"/>
          <p:cNvSpPr/>
          <p:nvPr/>
        </p:nvSpPr>
        <p:spPr>
          <a:xfrm>
            <a:off x="457200" y="4023360"/>
            <a:ext cx="3648456" cy="2240280"/>
          </a:xfrm>
          <a:prstGeom prst="rect">
            <a:avLst/>
          </a:prstGeom>
          <a:solidFill>
            <a:srgbClr val="F5F5F5"/>
          </a:solidFill>
          <a:ln w="12700">
            <a:solidFill>
              <a:srgbClr val="D1D5DB"/>
            </a:solidFill>
            <a:prstDash val="solid"/>
          </a:ln>
        </p:spPr>
      </p:sp>
      <p:sp>
        <p:nvSpPr>
          <p:cNvPr id="30" name="Shape 28"/>
          <p:cNvSpPr/>
          <p:nvPr/>
        </p:nvSpPr>
        <p:spPr>
          <a:xfrm>
            <a:off x="457200" y="4023360"/>
            <a:ext cx="36576" cy="2240280"/>
          </a:xfrm>
          <a:prstGeom prst="rect">
            <a:avLst/>
          </a:prstGeom>
          <a:solidFill>
            <a:srgbClr val="0C1A2E"/>
          </a:solidFill>
          <a:ln/>
        </p:spPr>
      </p:sp>
      <p:sp>
        <p:nvSpPr>
          <p:cNvPr id="31" name="Text 29"/>
          <p:cNvSpPr/>
          <p:nvPr/>
        </p:nvSpPr>
        <p:spPr>
          <a:xfrm>
            <a:off x="566928" y="4096512"/>
            <a:ext cx="3465576" cy="320040"/>
          </a:xfrm>
          <a:prstGeom prst="rect">
            <a:avLst/>
          </a:prstGeom>
          <a:noFill/>
          <a:ln/>
        </p:spPr>
        <p:txBody>
          <a:bodyPr wrap="square" rtlCol="0" anchor="ctr"/>
          <a:lstStyle/>
          <a:p>
            <a:pPr indent="0" marL="0">
              <a:buNone/>
            </a:pPr>
            <a:r>
              <a:rPr lang="en-US" sz="1100" b="1" dirty="0">
                <a:solidFill>
                  <a:srgbClr val="0C1A2E"/>
                </a:solidFill>
              </a:rPr>
              <a:t>Expediente digital de camiones (Pilar 1)</a:t>
            </a:r>
            <a:endParaRPr lang="en-US" sz="1100" dirty="0"/>
          </a:p>
        </p:txBody>
      </p:sp>
      <p:sp>
        <p:nvSpPr>
          <p:cNvPr id="32" name="Text 30"/>
          <p:cNvSpPr/>
          <p:nvPr/>
        </p:nvSpPr>
        <p:spPr>
          <a:xfrm>
            <a:off x="566928" y="4407408"/>
            <a:ext cx="3465576" cy="182880"/>
          </a:xfrm>
          <a:prstGeom prst="rect">
            <a:avLst/>
          </a:prstGeom>
          <a:noFill/>
          <a:ln/>
        </p:spPr>
        <p:txBody>
          <a:bodyPr wrap="square" rtlCol="0" anchor="ctr"/>
          <a:lstStyle/>
          <a:p>
            <a:pPr indent="0" marL="0">
              <a:buNone/>
            </a:pPr>
            <a:r>
              <a:rPr lang="en-US" sz="900" dirty="0">
                <a:solidFill>
                  <a:srgbClr val="6B7280"/>
                </a:solidFill>
              </a:rPr>
              <a:t>Flota y activos físicos</a:t>
            </a:r>
            <a:endParaRPr lang="en-US" sz="900" dirty="0"/>
          </a:p>
        </p:txBody>
      </p:sp>
      <p:sp>
        <p:nvSpPr>
          <p:cNvPr id="33" name="Text 31"/>
          <p:cNvSpPr/>
          <p:nvPr/>
        </p:nvSpPr>
        <p:spPr>
          <a:xfrm>
            <a:off x="566928" y="4590288"/>
            <a:ext cx="3465576" cy="1280160"/>
          </a:xfrm>
          <a:prstGeom prst="rect">
            <a:avLst/>
          </a:prstGeom>
          <a:noFill/>
          <a:ln/>
        </p:spPr>
        <p:txBody>
          <a:bodyPr wrap="square" rtlCol="0" anchor="t"/>
          <a:lstStyle/>
          <a:p>
            <a:pPr indent="0" marL="0">
              <a:buNone/>
            </a:pPr>
            <a:r>
              <a:rPr lang="en-US" sz="950" dirty="0">
                <a:solidFill>
                  <a:srgbClr val="1F2937"/>
                </a:solidFill>
              </a:rPr>
              <a:t>Una hoja de vida digital por cada camión, caja y vehículo (mantenimientos, diésel, kilómetros, inspecciones, vencimientos e incidentes), alimentada sola desde el asistente de WhatsApp y desde Samsara.</a:t>
            </a:r>
            <a:endParaRPr lang="en-US" sz="950" dirty="0"/>
          </a:p>
        </p:txBody>
      </p:sp>
      <p:sp>
        <p:nvSpPr>
          <p:cNvPr id="34" name="Text 32"/>
          <p:cNvSpPr/>
          <p:nvPr/>
        </p:nvSpPr>
        <p:spPr>
          <a:xfrm>
            <a:off x="566928" y="5971032"/>
            <a:ext cx="3465576" cy="256032"/>
          </a:xfrm>
          <a:prstGeom prst="rect">
            <a:avLst/>
          </a:prstGeom>
          <a:noFill/>
          <a:ln/>
        </p:spPr>
        <p:txBody>
          <a:bodyPr wrap="square" rtlCol="0" anchor="ctr"/>
          <a:lstStyle/>
          <a:p>
            <a:pPr indent="0" marL="0">
              <a:buNone/>
            </a:pPr>
            <a:r>
              <a:rPr lang="en-US" sz="950" b="1" dirty="0">
                <a:solidFill>
                  <a:srgbClr val="0C1A2E"/>
                </a:solidFill>
              </a:rPr>
              <a:t>USD 6,000 – 8,000</a:t>
            </a:r>
            <a:endParaRPr lang="en-US" sz="950" dirty="0"/>
          </a:p>
        </p:txBody>
      </p:sp>
      <p:sp>
        <p:nvSpPr>
          <p:cNvPr id="35" name="Shape 33"/>
          <p:cNvSpPr/>
          <p:nvPr/>
        </p:nvSpPr>
        <p:spPr>
          <a:xfrm>
            <a:off x="4215384" y="4023360"/>
            <a:ext cx="3648456" cy="2240280"/>
          </a:xfrm>
          <a:prstGeom prst="rect">
            <a:avLst/>
          </a:prstGeom>
          <a:solidFill>
            <a:srgbClr val="F5F5F5"/>
          </a:solidFill>
          <a:ln w="12700">
            <a:solidFill>
              <a:srgbClr val="D1D5DB"/>
            </a:solidFill>
            <a:prstDash val="solid"/>
          </a:ln>
        </p:spPr>
      </p:sp>
      <p:sp>
        <p:nvSpPr>
          <p:cNvPr id="36" name="Shape 34"/>
          <p:cNvSpPr/>
          <p:nvPr/>
        </p:nvSpPr>
        <p:spPr>
          <a:xfrm>
            <a:off x="4215384" y="4023360"/>
            <a:ext cx="36576" cy="2240280"/>
          </a:xfrm>
          <a:prstGeom prst="rect">
            <a:avLst/>
          </a:prstGeom>
          <a:solidFill>
            <a:srgbClr val="0C1A2E"/>
          </a:solidFill>
          <a:ln/>
        </p:spPr>
      </p:sp>
      <p:sp>
        <p:nvSpPr>
          <p:cNvPr id="37" name="Text 35"/>
          <p:cNvSpPr/>
          <p:nvPr/>
        </p:nvSpPr>
        <p:spPr>
          <a:xfrm>
            <a:off x="4325112" y="4096512"/>
            <a:ext cx="3465576" cy="320040"/>
          </a:xfrm>
          <a:prstGeom prst="rect">
            <a:avLst/>
          </a:prstGeom>
          <a:noFill/>
          <a:ln/>
        </p:spPr>
        <p:txBody>
          <a:bodyPr wrap="square" rtlCol="0" anchor="ctr"/>
          <a:lstStyle/>
          <a:p>
            <a:pPr indent="0" marL="0">
              <a:buNone/>
            </a:pPr>
            <a:r>
              <a:rPr lang="en-US" sz="1100" b="1" dirty="0">
                <a:solidFill>
                  <a:srgbClr val="0C1A2E"/>
                </a:solidFill>
              </a:rPr>
              <a:t>Libera a tu equipo: automatización por persona</a:t>
            </a:r>
            <a:endParaRPr lang="en-US" sz="1100" dirty="0"/>
          </a:p>
        </p:txBody>
      </p:sp>
      <p:sp>
        <p:nvSpPr>
          <p:cNvPr id="38" name="Text 36"/>
          <p:cNvSpPr/>
          <p:nvPr/>
        </p:nvSpPr>
        <p:spPr>
          <a:xfrm>
            <a:off x="4325112" y="4407408"/>
            <a:ext cx="3465576" cy="182880"/>
          </a:xfrm>
          <a:prstGeom prst="rect">
            <a:avLst/>
          </a:prstGeom>
          <a:noFill/>
          <a:ln/>
        </p:spPr>
        <p:txBody>
          <a:bodyPr wrap="square" rtlCol="0" anchor="ctr"/>
          <a:lstStyle/>
          <a:p>
            <a:pPr indent="0" marL="0">
              <a:buNone/>
            </a:pPr>
            <a:r>
              <a:rPr lang="en-US" sz="900" dirty="0">
                <a:solidFill>
                  <a:srgbClr val="6B7280"/>
                </a:solidFill>
              </a:rPr>
              <a:t>Información y coordinación interna</a:t>
            </a:r>
            <a:endParaRPr lang="en-US" sz="900" dirty="0"/>
          </a:p>
        </p:txBody>
      </p:sp>
      <p:sp>
        <p:nvSpPr>
          <p:cNvPr id="39" name="Text 37"/>
          <p:cNvSpPr/>
          <p:nvPr/>
        </p:nvSpPr>
        <p:spPr>
          <a:xfrm>
            <a:off x="4325112" y="4590288"/>
            <a:ext cx="3465576" cy="1280160"/>
          </a:xfrm>
          <a:prstGeom prst="rect">
            <a:avLst/>
          </a:prstGeom>
          <a:noFill/>
          <a:ln/>
        </p:spPr>
        <p:txBody>
          <a:bodyPr wrap="square" rtlCol="0" anchor="t"/>
          <a:lstStyle/>
          <a:p>
            <a:pPr indent="0" marL="0">
              <a:buNone/>
            </a:pPr>
            <a:r>
              <a:rPr lang="en-US" sz="950" dirty="0">
                <a:solidFill>
                  <a:srgbClr val="1F2937"/>
                </a:solidFill>
              </a:rPr>
              <a:t>Un acompañamiento de inmersión: nos sentamos con cada persona del equipo para entender su trabajo y automatizar las tareas repetitivas que les roban tiempo, como capturar a mano de un Excel a la carta porte. No reemplazamos a nadie: liberamos al equipo.</a:t>
            </a:r>
            <a:endParaRPr lang="en-US" sz="950" dirty="0"/>
          </a:p>
        </p:txBody>
      </p:sp>
      <p:sp>
        <p:nvSpPr>
          <p:cNvPr id="40" name="Text 38"/>
          <p:cNvSpPr/>
          <p:nvPr/>
        </p:nvSpPr>
        <p:spPr>
          <a:xfrm>
            <a:off x="4325112" y="5971032"/>
            <a:ext cx="3465576" cy="256032"/>
          </a:xfrm>
          <a:prstGeom prst="rect">
            <a:avLst/>
          </a:prstGeom>
          <a:noFill/>
          <a:ln/>
        </p:spPr>
        <p:txBody>
          <a:bodyPr wrap="square" rtlCol="0" anchor="ctr"/>
          <a:lstStyle/>
          <a:p>
            <a:pPr indent="0" marL="0">
              <a:buNone/>
            </a:pPr>
            <a:r>
              <a:rPr lang="en-US" sz="950" b="1" dirty="0">
                <a:solidFill>
                  <a:srgbClr val="0C1A2E"/>
                </a:solidFill>
              </a:rPr>
              <a:t>USD 3,000 – 6,000</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88952" cy="502920"/>
          </a:xfrm>
          <a:prstGeom prst="rect">
            <a:avLst/>
          </a:prstGeom>
          <a:solidFill>
            <a:srgbClr val="0C1A2E"/>
          </a:solidFill>
          <a:ln/>
        </p:spPr>
      </p:sp>
      <p:sp>
        <p:nvSpPr>
          <p:cNvPr id="3" name="Text 1"/>
          <p:cNvSpPr/>
          <p:nvPr/>
        </p:nvSpPr>
        <p:spPr>
          <a:xfrm>
            <a:off x="274320" y="0"/>
            <a:ext cx="2743200" cy="502920"/>
          </a:xfrm>
          <a:prstGeom prst="rect">
            <a:avLst/>
          </a:prstGeom>
          <a:noFill/>
          <a:ln/>
        </p:spPr>
        <p:txBody>
          <a:bodyPr wrap="square" rtlCol="0" anchor="ctr"/>
          <a:lstStyle/>
          <a:p>
            <a:pPr indent="0" marL="0">
              <a:buNone/>
            </a:pPr>
            <a:r>
              <a:rPr lang="en-US" sz="1100" b="1" dirty="0">
                <a:solidFill>
                  <a:srgbClr val="FFFFFF"/>
                </a:solidFill>
              </a:rPr>
              <a:t>NEXOSTRAT</a:t>
            </a:r>
            <a:endParaRPr lang="en-US" sz="1100" dirty="0"/>
          </a:p>
        </p:txBody>
      </p:sp>
      <p:sp>
        <p:nvSpPr>
          <p:cNvPr id="4" name="Text 2"/>
          <p:cNvSpPr/>
          <p:nvPr/>
        </p:nvSpPr>
        <p:spPr>
          <a:xfrm>
            <a:off x="411480" y="640080"/>
            <a:ext cx="11365992" cy="594360"/>
          </a:xfrm>
          <a:prstGeom prst="rect">
            <a:avLst/>
          </a:prstGeom>
          <a:noFill/>
          <a:ln/>
        </p:spPr>
        <p:txBody>
          <a:bodyPr wrap="square" rtlCol="0" anchor="ctr"/>
          <a:lstStyle/>
          <a:p>
            <a:pPr indent="0" marL="0">
              <a:buNone/>
            </a:pPr>
            <a:r>
              <a:rPr lang="en-US" sz="2800" b="1" dirty="0">
                <a:solidFill>
                  <a:srgbClr val="0C1A2E"/>
                </a:solidFill>
                <a:latin typeface="Inter" pitchFamily="34" charset="0"/>
                <a:ea typeface="Inter" pitchFamily="34" charset="-122"/>
                <a:cs typeface="Inter" pitchFamily="34" charset="-120"/>
              </a:rPr>
              <a:t>Quick Wins</a:t>
            </a:r>
            <a:endParaRPr lang="en-US" sz="2800" dirty="0"/>
          </a:p>
        </p:txBody>
      </p:sp>
      <p:sp>
        <p:nvSpPr>
          <p:cNvPr id="5" name="Text 3"/>
          <p:cNvSpPr/>
          <p:nvPr/>
        </p:nvSpPr>
        <p:spPr>
          <a:xfrm>
            <a:off x="411480" y="1234440"/>
            <a:ext cx="11365992" cy="320040"/>
          </a:xfrm>
          <a:prstGeom prst="rect">
            <a:avLst/>
          </a:prstGeom>
          <a:noFill/>
          <a:ln/>
        </p:spPr>
        <p:txBody>
          <a:bodyPr wrap="square" rtlCol="0" anchor="ctr"/>
          <a:lstStyle/>
          <a:p>
            <a:pPr indent="0" marL="0">
              <a:buNone/>
            </a:pPr>
            <a:r>
              <a:rPr lang="en-US" sz="1300" dirty="0">
                <a:solidFill>
                  <a:srgbClr val="6B7280"/>
                </a:solidFill>
                <a:latin typeface="Inter" pitchFamily="34" charset="0"/>
                <a:ea typeface="Inter" pitchFamily="34" charset="-122"/>
                <a:cs typeface="Inter" pitchFamily="34" charset="-120"/>
              </a:rPr>
              <a:t>Por dónde empezar: alto impacto, baja fricción</a:t>
            </a:r>
            <a:endParaRPr lang="en-US" sz="1300" dirty="0"/>
          </a:p>
        </p:txBody>
      </p:sp>
      <p:sp>
        <p:nvSpPr>
          <p:cNvPr id="6" name="Shape 4"/>
          <p:cNvSpPr/>
          <p:nvPr/>
        </p:nvSpPr>
        <p:spPr>
          <a:xfrm>
            <a:off x="0" y="6537960"/>
            <a:ext cx="12188952" cy="320040"/>
          </a:xfrm>
          <a:prstGeom prst="rect">
            <a:avLst/>
          </a:prstGeom>
          <a:solidFill>
            <a:srgbClr val="D1D5DB"/>
          </a:solidFill>
          <a:ln/>
        </p:spPr>
      </p:sp>
      <p:sp>
        <p:nvSpPr>
          <p:cNvPr id="7" name="Text 5"/>
          <p:cNvSpPr/>
          <p:nvPr/>
        </p:nvSpPr>
        <p:spPr>
          <a:xfrm>
            <a:off x="274320" y="6537960"/>
            <a:ext cx="5486400" cy="320040"/>
          </a:xfrm>
          <a:prstGeom prst="rect">
            <a:avLst/>
          </a:prstGeom>
          <a:noFill/>
          <a:ln/>
        </p:spPr>
        <p:txBody>
          <a:bodyPr wrap="square" rtlCol="0" anchor="ctr"/>
          <a:lstStyle/>
          <a:p>
            <a:pPr indent="0" marL="0">
              <a:buNone/>
            </a:pPr>
            <a:r>
              <a:rPr lang="en-US" sz="900" dirty="0">
                <a:solidFill>
                  <a:srgbClr val="6B7280"/>
                </a:solidFill>
              </a:rPr>
              <a:t>Grupo Trixx · 28 de mayo de 2026</a:t>
            </a:r>
            <a:endParaRPr lang="en-US" sz="900" dirty="0"/>
          </a:p>
        </p:txBody>
      </p:sp>
      <p:sp>
        <p:nvSpPr>
          <p:cNvPr id="8" name="Text 6"/>
          <p:cNvSpPr/>
          <p:nvPr/>
        </p:nvSpPr>
        <p:spPr>
          <a:xfrm>
            <a:off x="9445752" y="6537960"/>
            <a:ext cx="2468880" cy="320040"/>
          </a:xfrm>
          <a:prstGeom prst="rect">
            <a:avLst/>
          </a:prstGeom>
          <a:noFill/>
          <a:ln/>
        </p:spPr>
        <p:txBody>
          <a:bodyPr wrap="square" rtlCol="0" anchor="ctr"/>
          <a:lstStyle/>
          <a:p>
            <a:pPr algn="r" indent="0" marL="0">
              <a:buNone/>
            </a:pPr>
            <a:r>
              <a:rPr lang="en-US" sz="900" dirty="0">
                <a:solidFill>
                  <a:srgbClr val="6B7280"/>
                </a:solidFill>
              </a:rPr>
              <a:t>nexostrat.co</a:t>
            </a:r>
            <a:endParaRPr lang="en-US" sz="900" dirty="0"/>
          </a:p>
        </p:txBody>
      </p:sp>
      <p:sp>
        <p:nvSpPr>
          <p:cNvPr id="9" name="Shape 7"/>
          <p:cNvSpPr/>
          <p:nvPr/>
        </p:nvSpPr>
        <p:spPr>
          <a:xfrm>
            <a:off x="411480" y="1691640"/>
            <a:ext cx="5545836" cy="4114800"/>
          </a:xfrm>
          <a:prstGeom prst="rect">
            <a:avLst/>
          </a:prstGeom>
          <a:solidFill>
            <a:srgbClr val="ECFDF5"/>
          </a:solidFill>
          <a:ln w="25400">
            <a:solidFill>
              <a:srgbClr val="10B981"/>
            </a:solidFill>
            <a:prstDash val="solid"/>
          </a:ln>
        </p:spPr>
      </p:sp>
      <p:sp>
        <p:nvSpPr>
          <p:cNvPr id="10" name="Shape 8"/>
          <p:cNvSpPr/>
          <p:nvPr/>
        </p:nvSpPr>
        <p:spPr>
          <a:xfrm>
            <a:off x="411480" y="1691640"/>
            <a:ext cx="5545836" cy="457200"/>
          </a:xfrm>
          <a:prstGeom prst="rect">
            <a:avLst/>
          </a:prstGeom>
          <a:solidFill>
            <a:srgbClr val="10B981"/>
          </a:solidFill>
          <a:ln/>
        </p:spPr>
      </p:sp>
      <p:sp>
        <p:nvSpPr>
          <p:cNvPr id="11" name="Text 9"/>
          <p:cNvSpPr/>
          <p:nvPr/>
        </p:nvSpPr>
        <p:spPr>
          <a:xfrm>
            <a:off x="548640" y="1691640"/>
            <a:ext cx="5271516" cy="457200"/>
          </a:xfrm>
          <a:prstGeom prst="rect">
            <a:avLst/>
          </a:prstGeom>
          <a:noFill/>
          <a:ln/>
        </p:spPr>
        <p:txBody>
          <a:bodyPr wrap="square" rtlCol="0" anchor="ctr"/>
          <a:lstStyle/>
          <a:p>
            <a:pPr indent="0" marL="0">
              <a:buNone/>
            </a:pPr>
            <a:r>
              <a:rPr lang="en-US" sz="1300" b="1" dirty="0">
                <a:solidFill>
                  <a:srgbClr val="FFFFFF"/>
                </a:solidFill>
              </a:rPr>
              <a:t>Quick Win 1</a:t>
            </a:r>
            <a:endParaRPr lang="en-US" sz="1300" dirty="0"/>
          </a:p>
        </p:txBody>
      </p:sp>
      <p:sp>
        <p:nvSpPr>
          <p:cNvPr id="12" name="Text 10"/>
          <p:cNvSpPr/>
          <p:nvPr/>
        </p:nvSpPr>
        <p:spPr>
          <a:xfrm>
            <a:off x="548640" y="2240280"/>
            <a:ext cx="5271516" cy="502920"/>
          </a:xfrm>
          <a:prstGeom prst="rect">
            <a:avLst/>
          </a:prstGeom>
          <a:noFill/>
          <a:ln/>
        </p:spPr>
        <p:txBody>
          <a:bodyPr wrap="square" rtlCol="0" anchor="ctr"/>
          <a:lstStyle/>
          <a:p>
            <a:pPr indent="0" marL="0">
              <a:buNone/>
            </a:pPr>
            <a:r>
              <a:rPr lang="en-US" sz="1500" b="1" dirty="0">
                <a:solidFill>
                  <a:srgbClr val="0C1A2E"/>
                </a:solidFill>
              </a:rPr>
              <a:t>Asistente de WhatsApp que organiza la información</a:t>
            </a:r>
            <a:endParaRPr lang="en-US" sz="1500" dirty="0"/>
          </a:p>
        </p:txBody>
      </p:sp>
      <p:sp>
        <p:nvSpPr>
          <p:cNvPr id="13" name="Text 11"/>
          <p:cNvSpPr/>
          <p:nvPr/>
        </p:nvSpPr>
        <p:spPr>
          <a:xfrm>
            <a:off x="548640" y="2770632"/>
            <a:ext cx="5271516" cy="228600"/>
          </a:xfrm>
          <a:prstGeom prst="rect">
            <a:avLst/>
          </a:prstGeom>
          <a:noFill/>
          <a:ln/>
        </p:spPr>
        <p:txBody>
          <a:bodyPr wrap="square" rtlCol="0" anchor="ctr"/>
          <a:lstStyle/>
          <a:p>
            <a:pPr indent="0" marL="0">
              <a:buNone/>
            </a:pPr>
            <a:r>
              <a:rPr lang="en-US" sz="1000" dirty="0">
                <a:solidFill>
                  <a:srgbClr val="6B7280"/>
                </a:solidFill>
              </a:rPr>
              <a:t>Información y coordinación interna</a:t>
            </a:r>
            <a:endParaRPr lang="en-US" sz="1000" dirty="0"/>
          </a:p>
        </p:txBody>
      </p:sp>
      <p:sp>
        <p:nvSpPr>
          <p:cNvPr id="14" name="Text 12"/>
          <p:cNvSpPr/>
          <p:nvPr/>
        </p:nvSpPr>
        <p:spPr>
          <a:xfrm>
            <a:off x="548640" y="3044952"/>
            <a:ext cx="5271516" cy="1097280"/>
          </a:xfrm>
          <a:prstGeom prst="rect">
            <a:avLst/>
          </a:prstGeom>
          <a:noFill/>
          <a:ln/>
        </p:spPr>
        <p:txBody>
          <a:bodyPr wrap="square" rtlCol="0" anchor="t"/>
          <a:lstStyle/>
          <a:p>
            <a:pPr indent="0" marL="0">
              <a:buNone/>
            </a:pPr>
            <a:r>
              <a:rPr lang="en-US" sz="1050" dirty="0">
                <a:solidFill>
                  <a:srgbClr val="1F2937"/>
                </a:solidFill>
              </a:rPr>
              <a:t>Un asistente inteligente conectado a los grupos de WhatsApp que lee los mensajes, distingue lo importante y extrae los datos de fotos, PDF, Excel y hojas escritas a mano, organizándolos solo en el documento central y generando alertas. El equipo sigue usando WhatsApp igual que hoy.</a:t>
            </a:r>
            <a:endParaRPr lang="en-US" sz="1050" dirty="0"/>
          </a:p>
        </p:txBody>
      </p:sp>
      <p:sp>
        <p:nvSpPr>
          <p:cNvPr id="15" name="Shape 13"/>
          <p:cNvSpPr/>
          <p:nvPr/>
        </p:nvSpPr>
        <p:spPr>
          <a:xfrm>
            <a:off x="521208" y="4206240"/>
            <a:ext cx="5326380" cy="640080"/>
          </a:xfrm>
          <a:prstGeom prst="rect">
            <a:avLst/>
          </a:prstGeom>
          <a:solidFill>
            <a:srgbClr val="FFFFFF"/>
          </a:solidFill>
          <a:ln w="12700">
            <a:solidFill>
              <a:srgbClr val="D1D5DB"/>
            </a:solidFill>
            <a:prstDash val="solid"/>
          </a:ln>
        </p:spPr>
      </p:sp>
      <p:sp>
        <p:nvSpPr>
          <p:cNvPr id="16" name="Text 14"/>
          <p:cNvSpPr/>
          <p:nvPr/>
        </p:nvSpPr>
        <p:spPr>
          <a:xfrm>
            <a:off x="594360" y="4233672"/>
            <a:ext cx="5180076" cy="201168"/>
          </a:xfrm>
          <a:prstGeom prst="rect">
            <a:avLst/>
          </a:prstGeom>
          <a:noFill/>
          <a:ln/>
        </p:spPr>
        <p:txBody>
          <a:bodyPr wrap="square" rtlCol="0" anchor="ctr"/>
          <a:lstStyle/>
          <a:p>
            <a:pPr indent="0" marL="0">
              <a:buNone/>
            </a:pPr>
            <a:r>
              <a:rPr lang="en-US" sz="900" b="1" dirty="0">
                <a:solidFill>
                  <a:srgbClr val="10B981"/>
                </a:solidFill>
              </a:rPr>
              <a:t>Beneficio esperado:</a:t>
            </a:r>
            <a:endParaRPr lang="en-US" sz="900" dirty="0"/>
          </a:p>
        </p:txBody>
      </p:sp>
      <p:sp>
        <p:nvSpPr>
          <p:cNvPr id="17" name="Text 15"/>
          <p:cNvSpPr/>
          <p:nvPr/>
        </p:nvSpPr>
        <p:spPr>
          <a:xfrm>
            <a:off x="594360" y="4425696"/>
            <a:ext cx="5180076" cy="384048"/>
          </a:xfrm>
          <a:prstGeom prst="rect">
            <a:avLst/>
          </a:prstGeom>
          <a:noFill/>
          <a:ln/>
        </p:spPr>
        <p:txBody>
          <a:bodyPr wrap="square" rtlCol="0" anchor="ctr"/>
          <a:lstStyle/>
          <a:p>
            <a:pPr indent="0" marL="0">
              <a:buNone/>
            </a:pPr>
            <a:r>
              <a:rPr lang="en-US" sz="950" dirty="0">
                <a:solidFill>
                  <a:srgbClr val="1F2937"/>
                </a:solidFill>
              </a:rPr>
              <a:t>La información deja de perderse y deja de teclearse a mano, sin capacitación para el equipo de campo.</a:t>
            </a:r>
            <a:endParaRPr lang="en-US" sz="950" dirty="0"/>
          </a:p>
        </p:txBody>
      </p:sp>
      <p:sp>
        <p:nvSpPr>
          <p:cNvPr id="18" name="Shape 16"/>
          <p:cNvSpPr/>
          <p:nvPr/>
        </p:nvSpPr>
        <p:spPr>
          <a:xfrm>
            <a:off x="521208" y="4937760"/>
            <a:ext cx="5326380" cy="594360"/>
          </a:xfrm>
          <a:prstGeom prst="rect">
            <a:avLst/>
          </a:prstGeom>
          <a:solidFill>
            <a:srgbClr val="0C1A2E"/>
          </a:solidFill>
          <a:ln/>
        </p:spPr>
      </p:sp>
      <p:sp>
        <p:nvSpPr>
          <p:cNvPr id="19" name="Text 17"/>
          <p:cNvSpPr/>
          <p:nvPr/>
        </p:nvSpPr>
        <p:spPr>
          <a:xfrm>
            <a:off x="594360" y="4965192"/>
            <a:ext cx="1097280" cy="256032"/>
          </a:xfrm>
          <a:prstGeom prst="rect">
            <a:avLst/>
          </a:prstGeom>
          <a:noFill/>
          <a:ln/>
        </p:spPr>
        <p:txBody>
          <a:bodyPr wrap="square" rtlCol="0" anchor="ctr"/>
          <a:lstStyle/>
          <a:p>
            <a:pPr indent="0" marL="0">
              <a:buNone/>
            </a:pPr>
            <a:r>
              <a:rPr lang="en-US" sz="950" b="1" dirty="0">
                <a:solidFill>
                  <a:srgbClr val="F5F5F5"/>
                </a:solidFill>
              </a:rPr>
              <a:t>Inversión:</a:t>
            </a:r>
            <a:endParaRPr lang="en-US" sz="950" dirty="0"/>
          </a:p>
        </p:txBody>
      </p:sp>
      <p:sp>
        <p:nvSpPr>
          <p:cNvPr id="20" name="Text 18"/>
          <p:cNvSpPr/>
          <p:nvPr/>
        </p:nvSpPr>
        <p:spPr>
          <a:xfrm>
            <a:off x="594360" y="5184648"/>
            <a:ext cx="5180076" cy="274320"/>
          </a:xfrm>
          <a:prstGeom prst="rect">
            <a:avLst/>
          </a:prstGeom>
          <a:noFill/>
          <a:ln/>
        </p:spPr>
        <p:txBody>
          <a:bodyPr wrap="square" rtlCol="0" anchor="ctr"/>
          <a:lstStyle/>
          <a:p>
            <a:pPr indent="0" marL="0">
              <a:buNone/>
            </a:pPr>
            <a:r>
              <a:rPr lang="en-US" sz="1300" b="1" dirty="0">
                <a:solidFill>
                  <a:srgbClr val="F59E0B"/>
                </a:solidFill>
              </a:rPr>
              <a:t>USD 3,000</a:t>
            </a:r>
            <a:endParaRPr lang="en-US" sz="1300" dirty="0"/>
          </a:p>
        </p:txBody>
      </p:sp>
      <p:sp>
        <p:nvSpPr>
          <p:cNvPr id="21" name="Text 19"/>
          <p:cNvSpPr/>
          <p:nvPr/>
        </p:nvSpPr>
        <p:spPr>
          <a:xfrm>
            <a:off x="594360" y="5184648"/>
            <a:ext cx="5180076" cy="274320"/>
          </a:xfrm>
          <a:prstGeom prst="rect">
            <a:avLst/>
          </a:prstGeom>
          <a:noFill/>
          <a:ln/>
        </p:spPr>
        <p:txBody>
          <a:bodyPr wrap="square" rtlCol="0" anchor="ctr"/>
          <a:lstStyle/>
          <a:p>
            <a:pPr algn="r" indent="0" marL="0">
              <a:buNone/>
            </a:pPr>
            <a:r>
              <a:rPr lang="en-US" sz="850" dirty="0">
                <a:solidFill>
                  <a:srgbClr val="F5F5F5"/>
                </a:solidFill>
              </a:rPr>
              <a:t>+ USD 80/mes infraestructura</a:t>
            </a:r>
            <a:endParaRPr lang="en-US" sz="850" dirty="0"/>
          </a:p>
        </p:txBody>
      </p:sp>
      <p:sp>
        <p:nvSpPr>
          <p:cNvPr id="22" name="Shape 20"/>
          <p:cNvSpPr/>
          <p:nvPr/>
        </p:nvSpPr>
        <p:spPr>
          <a:xfrm>
            <a:off x="6048756" y="1691640"/>
            <a:ext cx="5545836" cy="4114800"/>
          </a:xfrm>
          <a:prstGeom prst="rect">
            <a:avLst/>
          </a:prstGeom>
          <a:solidFill>
            <a:srgbClr val="ECFDF5"/>
          </a:solidFill>
          <a:ln w="25400">
            <a:solidFill>
              <a:srgbClr val="10B981"/>
            </a:solidFill>
            <a:prstDash val="solid"/>
          </a:ln>
        </p:spPr>
      </p:sp>
      <p:sp>
        <p:nvSpPr>
          <p:cNvPr id="23" name="Shape 21"/>
          <p:cNvSpPr/>
          <p:nvPr/>
        </p:nvSpPr>
        <p:spPr>
          <a:xfrm>
            <a:off x="6048756" y="1691640"/>
            <a:ext cx="5545836" cy="457200"/>
          </a:xfrm>
          <a:prstGeom prst="rect">
            <a:avLst/>
          </a:prstGeom>
          <a:solidFill>
            <a:srgbClr val="10B981"/>
          </a:solidFill>
          <a:ln/>
        </p:spPr>
      </p:sp>
      <p:sp>
        <p:nvSpPr>
          <p:cNvPr id="24" name="Text 22"/>
          <p:cNvSpPr/>
          <p:nvPr/>
        </p:nvSpPr>
        <p:spPr>
          <a:xfrm>
            <a:off x="6185916" y="1691640"/>
            <a:ext cx="5271516" cy="457200"/>
          </a:xfrm>
          <a:prstGeom prst="rect">
            <a:avLst/>
          </a:prstGeom>
          <a:noFill/>
          <a:ln/>
        </p:spPr>
        <p:txBody>
          <a:bodyPr wrap="square" rtlCol="0" anchor="ctr"/>
          <a:lstStyle/>
          <a:p>
            <a:pPr indent="0" marL="0">
              <a:buNone/>
            </a:pPr>
            <a:r>
              <a:rPr lang="en-US" sz="1300" b="1" dirty="0">
                <a:solidFill>
                  <a:srgbClr val="FFFFFF"/>
                </a:solidFill>
              </a:rPr>
              <a:t>Quick Win 2</a:t>
            </a:r>
            <a:endParaRPr lang="en-US" sz="1300" dirty="0"/>
          </a:p>
        </p:txBody>
      </p:sp>
      <p:sp>
        <p:nvSpPr>
          <p:cNvPr id="25" name="Text 23"/>
          <p:cNvSpPr/>
          <p:nvPr/>
        </p:nvSpPr>
        <p:spPr>
          <a:xfrm>
            <a:off x="6185916" y="2240280"/>
            <a:ext cx="5271516" cy="502920"/>
          </a:xfrm>
          <a:prstGeom prst="rect">
            <a:avLst/>
          </a:prstGeom>
          <a:noFill/>
          <a:ln/>
        </p:spPr>
        <p:txBody>
          <a:bodyPr wrap="square" rtlCol="0" anchor="ctr"/>
          <a:lstStyle/>
          <a:p>
            <a:pPr indent="0" marL="0">
              <a:buNone/>
            </a:pPr>
            <a:r>
              <a:rPr lang="en-US" sz="1500" b="1" dirty="0">
                <a:solidFill>
                  <a:srgbClr val="0C1A2E"/>
                </a:solidFill>
              </a:rPr>
              <a:t>Documentos vivos con un tablero maestro</a:t>
            </a:r>
            <a:endParaRPr lang="en-US" sz="1500" dirty="0"/>
          </a:p>
        </p:txBody>
      </p:sp>
      <p:sp>
        <p:nvSpPr>
          <p:cNvPr id="26" name="Text 24"/>
          <p:cNvSpPr/>
          <p:nvPr/>
        </p:nvSpPr>
        <p:spPr>
          <a:xfrm>
            <a:off x="6185916" y="2770632"/>
            <a:ext cx="5271516" cy="228600"/>
          </a:xfrm>
          <a:prstGeom prst="rect">
            <a:avLst/>
          </a:prstGeom>
          <a:noFill/>
          <a:ln/>
        </p:spPr>
        <p:txBody>
          <a:bodyPr wrap="square" rtlCol="0" anchor="ctr"/>
          <a:lstStyle/>
          <a:p>
            <a:pPr indent="0" marL="0">
              <a:buNone/>
            </a:pPr>
            <a:r>
              <a:rPr lang="en-US" sz="1000" dirty="0">
                <a:solidFill>
                  <a:srgbClr val="6B7280"/>
                </a:solidFill>
              </a:rPr>
              <a:t>Información y coordinación interna</a:t>
            </a:r>
            <a:endParaRPr lang="en-US" sz="1000" dirty="0"/>
          </a:p>
        </p:txBody>
      </p:sp>
      <p:sp>
        <p:nvSpPr>
          <p:cNvPr id="27" name="Text 25"/>
          <p:cNvSpPr/>
          <p:nvPr/>
        </p:nvSpPr>
        <p:spPr>
          <a:xfrm>
            <a:off x="6185916" y="3044952"/>
            <a:ext cx="5271516" cy="1097280"/>
          </a:xfrm>
          <a:prstGeom prst="rect">
            <a:avLst/>
          </a:prstGeom>
          <a:noFill/>
          <a:ln/>
        </p:spPr>
        <p:txBody>
          <a:bodyPr wrap="square" rtlCol="0" anchor="t"/>
          <a:lstStyle/>
          <a:p>
            <a:pPr indent="0" marL="0">
              <a:buNone/>
            </a:pPr>
            <a:r>
              <a:rPr lang="en-US" sz="1050" dirty="0">
                <a:solidFill>
                  <a:srgbClr val="1F2937"/>
                </a:solidFill>
              </a:rPr>
              <a:t>Cada persona mantiene su propia hoja y todas alimentan en tiempo real un documento maestro donde la dirección ve la información consolidada, con permisos por rol. El orden de una plataforma como Monday se logra sobre la herramienta que ustedes ya tengan, y la información de Monday y Tracking Premium se puede llevar a un solo lugar.</a:t>
            </a:r>
            <a:endParaRPr lang="en-US" sz="1050" dirty="0"/>
          </a:p>
        </p:txBody>
      </p:sp>
      <p:sp>
        <p:nvSpPr>
          <p:cNvPr id="28" name="Shape 26"/>
          <p:cNvSpPr/>
          <p:nvPr/>
        </p:nvSpPr>
        <p:spPr>
          <a:xfrm>
            <a:off x="6158484" y="4206240"/>
            <a:ext cx="5326380" cy="640080"/>
          </a:xfrm>
          <a:prstGeom prst="rect">
            <a:avLst/>
          </a:prstGeom>
          <a:solidFill>
            <a:srgbClr val="FFFFFF"/>
          </a:solidFill>
          <a:ln w="12700">
            <a:solidFill>
              <a:srgbClr val="D1D5DB"/>
            </a:solidFill>
            <a:prstDash val="solid"/>
          </a:ln>
        </p:spPr>
      </p:sp>
      <p:sp>
        <p:nvSpPr>
          <p:cNvPr id="29" name="Text 27"/>
          <p:cNvSpPr/>
          <p:nvPr/>
        </p:nvSpPr>
        <p:spPr>
          <a:xfrm>
            <a:off x="6231636" y="4233672"/>
            <a:ext cx="5180076" cy="201168"/>
          </a:xfrm>
          <a:prstGeom prst="rect">
            <a:avLst/>
          </a:prstGeom>
          <a:noFill/>
          <a:ln/>
        </p:spPr>
        <p:txBody>
          <a:bodyPr wrap="square" rtlCol="0" anchor="ctr"/>
          <a:lstStyle/>
          <a:p>
            <a:pPr indent="0" marL="0">
              <a:buNone/>
            </a:pPr>
            <a:r>
              <a:rPr lang="en-US" sz="900" b="1" dirty="0">
                <a:solidFill>
                  <a:srgbClr val="10B981"/>
                </a:solidFill>
              </a:rPr>
              <a:t>Beneficio esperado:</a:t>
            </a:r>
            <a:endParaRPr lang="en-US" sz="900" dirty="0"/>
          </a:p>
        </p:txBody>
      </p:sp>
      <p:sp>
        <p:nvSpPr>
          <p:cNvPr id="30" name="Text 28"/>
          <p:cNvSpPr/>
          <p:nvPr/>
        </p:nvSpPr>
        <p:spPr>
          <a:xfrm>
            <a:off x="6231636" y="4425696"/>
            <a:ext cx="5180076" cy="384048"/>
          </a:xfrm>
          <a:prstGeom prst="rect">
            <a:avLst/>
          </a:prstGeom>
          <a:noFill/>
          <a:ln/>
        </p:spPr>
        <p:txBody>
          <a:bodyPr wrap="square" rtlCol="0" anchor="ctr"/>
          <a:lstStyle/>
          <a:p>
            <a:pPr indent="0" marL="0">
              <a:buNone/>
            </a:pPr>
            <a:r>
              <a:rPr lang="en-US" sz="950" dirty="0">
                <a:solidFill>
                  <a:srgbClr val="1F2937"/>
                </a:solidFill>
              </a:rPr>
              <a:t>Cumple la meta de los tres minutos y es la base sobre la que se apoyan los dos pilares de la operación.</a:t>
            </a:r>
            <a:endParaRPr lang="en-US" sz="950" dirty="0"/>
          </a:p>
        </p:txBody>
      </p:sp>
      <p:sp>
        <p:nvSpPr>
          <p:cNvPr id="31" name="Shape 29"/>
          <p:cNvSpPr/>
          <p:nvPr/>
        </p:nvSpPr>
        <p:spPr>
          <a:xfrm>
            <a:off x="6158484" y="4937760"/>
            <a:ext cx="5326380" cy="594360"/>
          </a:xfrm>
          <a:prstGeom prst="rect">
            <a:avLst/>
          </a:prstGeom>
          <a:solidFill>
            <a:srgbClr val="0C1A2E"/>
          </a:solidFill>
          <a:ln/>
        </p:spPr>
      </p:sp>
      <p:sp>
        <p:nvSpPr>
          <p:cNvPr id="32" name="Text 30"/>
          <p:cNvSpPr/>
          <p:nvPr/>
        </p:nvSpPr>
        <p:spPr>
          <a:xfrm>
            <a:off x="6231636" y="4965192"/>
            <a:ext cx="1097280" cy="256032"/>
          </a:xfrm>
          <a:prstGeom prst="rect">
            <a:avLst/>
          </a:prstGeom>
          <a:noFill/>
          <a:ln/>
        </p:spPr>
        <p:txBody>
          <a:bodyPr wrap="square" rtlCol="0" anchor="ctr"/>
          <a:lstStyle/>
          <a:p>
            <a:pPr indent="0" marL="0">
              <a:buNone/>
            </a:pPr>
            <a:r>
              <a:rPr lang="en-US" sz="950" b="1" dirty="0">
                <a:solidFill>
                  <a:srgbClr val="F5F5F5"/>
                </a:solidFill>
              </a:rPr>
              <a:t>Inversión:</a:t>
            </a:r>
            <a:endParaRPr lang="en-US" sz="950" dirty="0"/>
          </a:p>
        </p:txBody>
      </p:sp>
      <p:sp>
        <p:nvSpPr>
          <p:cNvPr id="33" name="Text 31"/>
          <p:cNvSpPr/>
          <p:nvPr/>
        </p:nvSpPr>
        <p:spPr>
          <a:xfrm>
            <a:off x="6231636" y="5184648"/>
            <a:ext cx="5180076" cy="274320"/>
          </a:xfrm>
          <a:prstGeom prst="rect">
            <a:avLst/>
          </a:prstGeom>
          <a:noFill/>
          <a:ln/>
        </p:spPr>
        <p:txBody>
          <a:bodyPr wrap="square" rtlCol="0" anchor="ctr"/>
          <a:lstStyle/>
          <a:p>
            <a:pPr indent="0" marL="0">
              <a:buNone/>
            </a:pPr>
            <a:r>
              <a:rPr lang="en-US" sz="1300" b="1" dirty="0">
                <a:solidFill>
                  <a:srgbClr val="F59E0B"/>
                </a:solidFill>
              </a:rPr>
              <a:t>USD 3,000</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88952" cy="502920"/>
          </a:xfrm>
          <a:prstGeom prst="rect">
            <a:avLst/>
          </a:prstGeom>
          <a:solidFill>
            <a:srgbClr val="0C1A2E"/>
          </a:solidFill>
          <a:ln/>
        </p:spPr>
      </p:sp>
      <p:sp>
        <p:nvSpPr>
          <p:cNvPr id="3" name="Text 1"/>
          <p:cNvSpPr/>
          <p:nvPr/>
        </p:nvSpPr>
        <p:spPr>
          <a:xfrm>
            <a:off x="274320" y="0"/>
            <a:ext cx="2743200" cy="502920"/>
          </a:xfrm>
          <a:prstGeom prst="rect">
            <a:avLst/>
          </a:prstGeom>
          <a:noFill/>
          <a:ln/>
        </p:spPr>
        <p:txBody>
          <a:bodyPr wrap="square" rtlCol="0" anchor="ctr"/>
          <a:lstStyle/>
          <a:p>
            <a:pPr indent="0" marL="0">
              <a:buNone/>
            </a:pPr>
            <a:r>
              <a:rPr lang="en-US" sz="1100" b="1" dirty="0">
                <a:solidFill>
                  <a:srgbClr val="FFFFFF"/>
                </a:solidFill>
              </a:rPr>
              <a:t>NEXOSTRAT</a:t>
            </a:r>
            <a:endParaRPr lang="en-US" sz="1100" dirty="0"/>
          </a:p>
        </p:txBody>
      </p:sp>
      <p:sp>
        <p:nvSpPr>
          <p:cNvPr id="4" name="Text 2"/>
          <p:cNvSpPr/>
          <p:nvPr/>
        </p:nvSpPr>
        <p:spPr>
          <a:xfrm>
            <a:off x="411480" y="640080"/>
            <a:ext cx="11365992" cy="594360"/>
          </a:xfrm>
          <a:prstGeom prst="rect">
            <a:avLst/>
          </a:prstGeom>
          <a:noFill/>
          <a:ln/>
        </p:spPr>
        <p:txBody>
          <a:bodyPr wrap="square" rtlCol="0" anchor="ctr"/>
          <a:lstStyle/>
          <a:p>
            <a:pPr indent="0" marL="0">
              <a:buNone/>
            </a:pPr>
            <a:r>
              <a:rPr lang="en-US" sz="2800" b="1" dirty="0">
                <a:solidFill>
                  <a:srgbClr val="0C1A2E"/>
                </a:solidFill>
                <a:latin typeface="Inter" pitchFamily="34" charset="0"/>
                <a:ea typeface="Inter" pitchFamily="34" charset="-122"/>
                <a:cs typeface="Inter" pitchFamily="34" charset="-120"/>
              </a:rPr>
              <a:t>Hoja de ruta — Ciclo 2</a:t>
            </a:r>
            <a:endParaRPr lang="en-US" sz="2800" dirty="0"/>
          </a:p>
        </p:txBody>
      </p:sp>
      <p:sp>
        <p:nvSpPr>
          <p:cNvPr id="5" name="Text 3"/>
          <p:cNvSpPr/>
          <p:nvPr/>
        </p:nvSpPr>
        <p:spPr>
          <a:xfrm>
            <a:off x="411480" y="1234440"/>
            <a:ext cx="11365992" cy="320040"/>
          </a:xfrm>
          <a:prstGeom prst="rect">
            <a:avLst/>
          </a:prstGeom>
          <a:noFill/>
          <a:ln/>
        </p:spPr>
        <p:txBody>
          <a:bodyPr wrap="square" rtlCol="0" anchor="ctr"/>
          <a:lstStyle/>
          <a:p>
            <a:pPr indent="0" marL="0">
              <a:buNone/>
            </a:pPr>
            <a:r>
              <a:rPr lang="en-US" sz="1300" dirty="0">
                <a:solidFill>
                  <a:srgbClr val="6B7280"/>
                </a:solidFill>
                <a:latin typeface="Inter" pitchFamily="34" charset="0"/>
                <a:ea typeface="Inter" pitchFamily="34" charset="-122"/>
                <a:cs typeface="Inter" pitchFamily="34" charset="-120"/>
              </a:rPr>
              <a:t>Diseño e implementación: de la oportunidad a la solución en producción</a:t>
            </a:r>
            <a:endParaRPr lang="en-US" sz="1300" dirty="0"/>
          </a:p>
        </p:txBody>
      </p:sp>
      <p:sp>
        <p:nvSpPr>
          <p:cNvPr id="6" name="Shape 4"/>
          <p:cNvSpPr/>
          <p:nvPr/>
        </p:nvSpPr>
        <p:spPr>
          <a:xfrm>
            <a:off x="0" y="6537960"/>
            <a:ext cx="12188952" cy="320040"/>
          </a:xfrm>
          <a:prstGeom prst="rect">
            <a:avLst/>
          </a:prstGeom>
          <a:solidFill>
            <a:srgbClr val="D1D5DB"/>
          </a:solidFill>
          <a:ln/>
        </p:spPr>
      </p:sp>
      <p:sp>
        <p:nvSpPr>
          <p:cNvPr id="7" name="Text 5"/>
          <p:cNvSpPr/>
          <p:nvPr/>
        </p:nvSpPr>
        <p:spPr>
          <a:xfrm>
            <a:off x="274320" y="6537960"/>
            <a:ext cx="5486400" cy="320040"/>
          </a:xfrm>
          <a:prstGeom prst="rect">
            <a:avLst/>
          </a:prstGeom>
          <a:noFill/>
          <a:ln/>
        </p:spPr>
        <p:txBody>
          <a:bodyPr wrap="square" rtlCol="0" anchor="ctr"/>
          <a:lstStyle/>
          <a:p>
            <a:pPr indent="0" marL="0">
              <a:buNone/>
            </a:pPr>
            <a:r>
              <a:rPr lang="en-US" sz="900" dirty="0">
                <a:solidFill>
                  <a:srgbClr val="6B7280"/>
                </a:solidFill>
              </a:rPr>
              <a:t>Grupo Trixx · 28 de mayo de 2026</a:t>
            </a:r>
            <a:endParaRPr lang="en-US" sz="900" dirty="0"/>
          </a:p>
        </p:txBody>
      </p:sp>
      <p:sp>
        <p:nvSpPr>
          <p:cNvPr id="8" name="Text 6"/>
          <p:cNvSpPr/>
          <p:nvPr/>
        </p:nvSpPr>
        <p:spPr>
          <a:xfrm>
            <a:off x="9445752" y="6537960"/>
            <a:ext cx="2468880" cy="320040"/>
          </a:xfrm>
          <a:prstGeom prst="rect">
            <a:avLst/>
          </a:prstGeom>
          <a:noFill/>
          <a:ln/>
        </p:spPr>
        <p:txBody>
          <a:bodyPr wrap="square" rtlCol="0" anchor="ctr"/>
          <a:lstStyle/>
          <a:p>
            <a:pPr algn="r" indent="0" marL="0">
              <a:buNone/>
            </a:pPr>
            <a:r>
              <a:rPr lang="en-US" sz="900" dirty="0">
                <a:solidFill>
                  <a:srgbClr val="6B7280"/>
                </a:solidFill>
              </a:rPr>
              <a:t>nexostrat.co</a:t>
            </a:r>
            <a:endParaRPr lang="en-US" sz="900" dirty="0"/>
          </a:p>
        </p:txBody>
      </p:sp>
      <p:sp>
        <p:nvSpPr>
          <p:cNvPr id="9" name="Shape 7"/>
          <p:cNvSpPr/>
          <p:nvPr/>
        </p:nvSpPr>
        <p:spPr>
          <a:xfrm>
            <a:off x="457200" y="1691640"/>
            <a:ext cx="3648456" cy="411480"/>
          </a:xfrm>
          <a:prstGeom prst="rect">
            <a:avLst/>
          </a:prstGeom>
          <a:solidFill>
            <a:srgbClr val="10B981"/>
          </a:solidFill>
          <a:ln/>
        </p:spPr>
      </p:sp>
      <p:sp>
        <p:nvSpPr>
          <p:cNvPr id="10" name="Text 8"/>
          <p:cNvSpPr/>
          <p:nvPr/>
        </p:nvSpPr>
        <p:spPr>
          <a:xfrm>
            <a:off x="548640" y="1691640"/>
            <a:ext cx="3465576" cy="411480"/>
          </a:xfrm>
          <a:prstGeom prst="rect">
            <a:avLst/>
          </a:prstGeom>
          <a:noFill/>
          <a:ln/>
        </p:spPr>
        <p:txBody>
          <a:bodyPr wrap="square" rtlCol="0" anchor="ctr"/>
          <a:lstStyle/>
          <a:p>
            <a:pPr indent="0" marL="0">
              <a:buNone/>
            </a:pPr>
            <a:r>
              <a:rPr lang="en-US" sz="1100" b="1" dirty="0">
                <a:solidFill>
                  <a:srgbClr val="FFFFFF"/>
                </a:solidFill>
              </a:rPr>
              <a:t>Fase 1 — Bases / Victorias rápidas (0-3 meses)</a:t>
            </a:r>
            <a:endParaRPr lang="en-US" sz="1100" dirty="0"/>
          </a:p>
        </p:txBody>
      </p:sp>
      <p:sp>
        <p:nvSpPr>
          <p:cNvPr id="11" name="Shape 9"/>
          <p:cNvSpPr/>
          <p:nvPr/>
        </p:nvSpPr>
        <p:spPr>
          <a:xfrm>
            <a:off x="457200" y="2103120"/>
            <a:ext cx="3648456" cy="3200400"/>
          </a:xfrm>
          <a:prstGeom prst="rect">
            <a:avLst/>
          </a:prstGeom>
          <a:solidFill>
            <a:srgbClr val="F5F5F5"/>
          </a:solidFill>
          <a:ln w="12700">
            <a:solidFill>
              <a:srgbClr val="D1D5DB"/>
            </a:solidFill>
            <a:prstDash val="solid"/>
          </a:ln>
        </p:spPr>
      </p:sp>
      <p:sp>
        <p:nvSpPr>
          <p:cNvPr id="12" name="Text 10"/>
          <p:cNvSpPr/>
          <p:nvPr/>
        </p:nvSpPr>
        <p:spPr>
          <a:xfrm>
            <a:off x="548640" y="2194560"/>
            <a:ext cx="3465576" cy="594360"/>
          </a:xfrm>
          <a:prstGeom prst="rect">
            <a:avLst/>
          </a:prstGeom>
          <a:noFill/>
          <a:ln/>
        </p:spPr>
        <p:txBody>
          <a:bodyPr wrap="square" rtlCol="0" anchor="ctr"/>
          <a:lstStyle/>
          <a:p>
            <a:pPr indent="0" marL="0">
              <a:buNone/>
            </a:pPr>
            <a:r>
              <a:rPr lang="en-US" sz="1000" i="1" dirty="0">
                <a:solidFill>
                  <a:srgbClr val="6B7280"/>
                </a:solidFill>
              </a:rPr>
              <a:t>Las tres bases que capturan y consolidan la información sin pedirle al equipo aprender nada nuevo. Sobre ellas se apoya todo lo demás.</a:t>
            </a:r>
            <a:endParaRPr lang="en-US" sz="1000" dirty="0"/>
          </a:p>
        </p:txBody>
      </p:sp>
      <p:sp>
        <p:nvSpPr>
          <p:cNvPr id="13" name="Shape 11"/>
          <p:cNvSpPr/>
          <p:nvPr/>
        </p:nvSpPr>
        <p:spPr>
          <a:xfrm>
            <a:off x="548640" y="2880360"/>
            <a:ext cx="3465576" cy="475488"/>
          </a:xfrm>
          <a:prstGeom prst="rect">
            <a:avLst/>
          </a:prstGeom>
          <a:solidFill>
            <a:srgbClr val="FFFFFF"/>
          </a:solidFill>
          <a:ln w="12700">
            <a:solidFill>
              <a:srgbClr val="D1D5DB"/>
            </a:solidFill>
            <a:prstDash val="solid"/>
          </a:ln>
        </p:spPr>
      </p:sp>
      <p:sp>
        <p:nvSpPr>
          <p:cNvPr id="14" name="Shape 12"/>
          <p:cNvSpPr/>
          <p:nvPr/>
        </p:nvSpPr>
        <p:spPr>
          <a:xfrm>
            <a:off x="548640" y="2880360"/>
            <a:ext cx="36576" cy="475488"/>
          </a:xfrm>
          <a:prstGeom prst="rect">
            <a:avLst/>
          </a:prstGeom>
          <a:solidFill>
            <a:srgbClr val="10B981"/>
          </a:solidFill>
          <a:ln/>
        </p:spPr>
      </p:sp>
      <p:sp>
        <p:nvSpPr>
          <p:cNvPr id="15" name="Text 13"/>
          <p:cNvSpPr/>
          <p:nvPr/>
        </p:nvSpPr>
        <p:spPr>
          <a:xfrm>
            <a:off x="640080" y="2907792"/>
            <a:ext cx="3328416" cy="237744"/>
          </a:xfrm>
          <a:prstGeom prst="rect">
            <a:avLst/>
          </a:prstGeom>
          <a:noFill/>
          <a:ln/>
        </p:spPr>
        <p:txBody>
          <a:bodyPr wrap="none" rtlCol="0" anchor="ctr"/>
          <a:lstStyle/>
          <a:p>
            <a:pPr indent="0" marL="0">
              <a:buNone/>
            </a:pPr>
            <a:r>
              <a:rPr lang="en-US" sz="1000" b="1" dirty="0">
                <a:solidFill>
                  <a:srgbClr val="1F2937"/>
                </a:solidFill>
              </a:rPr>
              <a:t>Asistente de WhatsApp que organiza la información</a:t>
            </a:r>
            <a:endParaRPr lang="en-US" sz="1000" dirty="0"/>
          </a:p>
        </p:txBody>
      </p:sp>
      <p:sp>
        <p:nvSpPr>
          <p:cNvPr id="16" name="Text 14"/>
          <p:cNvSpPr/>
          <p:nvPr/>
        </p:nvSpPr>
        <p:spPr>
          <a:xfrm>
            <a:off x="640080" y="3136392"/>
            <a:ext cx="3328416" cy="182880"/>
          </a:xfrm>
          <a:prstGeom prst="rect">
            <a:avLst/>
          </a:prstGeom>
          <a:noFill/>
          <a:ln/>
        </p:spPr>
        <p:txBody>
          <a:bodyPr wrap="square" rtlCol="0" anchor="ctr"/>
          <a:lstStyle/>
          <a:p>
            <a:pPr indent="0" marL="0">
              <a:buNone/>
            </a:pPr>
            <a:r>
              <a:rPr lang="en-US" sz="900" b="1" dirty="0">
                <a:solidFill>
                  <a:srgbClr val="10B981"/>
                </a:solidFill>
              </a:rPr>
              <a:t>USD 3,000</a:t>
            </a:r>
            <a:endParaRPr lang="en-US" sz="900" dirty="0"/>
          </a:p>
        </p:txBody>
      </p:sp>
      <p:sp>
        <p:nvSpPr>
          <p:cNvPr id="17" name="Shape 15"/>
          <p:cNvSpPr/>
          <p:nvPr/>
        </p:nvSpPr>
        <p:spPr>
          <a:xfrm>
            <a:off x="548640" y="3429000"/>
            <a:ext cx="3465576" cy="475488"/>
          </a:xfrm>
          <a:prstGeom prst="rect">
            <a:avLst/>
          </a:prstGeom>
          <a:solidFill>
            <a:srgbClr val="FFFFFF"/>
          </a:solidFill>
          <a:ln w="12700">
            <a:solidFill>
              <a:srgbClr val="D1D5DB"/>
            </a:solidFill>
            <a:prstDash val="solid"/>
          </a:ln>
        </p:spPr>
      </p:sp>
      <p:sp>
        <p:nvSpPr>
          <p:cNvPr id="18" name="Shape 16"/>
          <p:cNvSpPr/>
          <p:nvPr/>
        </p:nvSpPr>
        <p:spPr>
          <a:xfrm>
            <a:off x="548640" y="3429000"/>
            <a:ext cx="36576" cy="475488"/>
          </a:xfrm>
          <a:prstGeom prst="rect">
            <a:avLst/>
          </a:prstGeom>
          <a:solidFill>
            <a:srgbClr val="10B981"/>
          </a:solidFill>
          <a:ln/>
        </p:spPr>
      </p:sp>
      <p:sp>
        <p:nvSpPr>
          <p:cNvPr id="19" name="Text 17"/>
          <p:cNvSpPr/>
          <p:nvPr/>
        </p:nvSpPr>
        <p:spPr>
          <a:xfrm>
            <a:off x="640080" y="3456432"/>
            <a:ext cx="3328416" cy="237744"/>
          </a:xfrm>
          <a:prstGeom prst="rect">
            <a:avLst/>
          </a:prstGeom>
          <a:noFill/>
          <a:ln/>
        </p:spPr>
        <p:txBody>
          <a:bodyPr wrap="none" rtlCol="0" anchor="ctr"/>
          <a:lstStyle/>
          <a:p>
            <a:pPr indent="0" marL="0">
              <a:buNone/>
            </a:pPr>
            <a:r>
              <a:rPr lang="en-US" sz="1000" b="1" dirty="0">
                <a:solidFill>
                  <a:srgbClr val="1F2937"/>
                </a:solidFill>
              </a:rPr>
              <a:t>Filtros inteligentes de correo</a:t>
            </a:r>
            <a:endParaRPr lang="en-US" sz="1000" dirty="0"/>
          </a:p>
        </p:txBody>
      </p:sp>
      <p:sp>
        <p:nvSpPr>
          <p:cNvPr id="20" name="Text 18"/>
          <p:cNvSpPr/>
          <p:nvPr/>
        </p:nvSpPr>
        <p:spPr>
          <a:xfrm>
            <a:off x="640080" y="3685032"/>
            <a:ext cx="3328416" cy="182880"/>
          </a:xfrm>
          <a:prstGeom prst="rect">
            <a:avLst/>
          </a:prstGeom>
          <a:noFill/>
          <a:ln/>
        </p:spPr>
        <p:txBody>
          <a:bodyPr wrap="square" rtlCol="0" anchor="ctr"/>
          <a:lstStyle/>
          <a:p>
            <a:pPr indent="0" marL="0">
              <a:buNone/>
            </a:pPr>
            <a:r>
              <a:rPr lang="en-US" sz="900" b="1" dirty="0">
                <a:solidFill>
                  <a:srgbClr val="10B981"/>
                </a:solidFill>
              </a:rPr>
              <a:t>USD 3,000</a:t>
            </a:r>
            <a:endParaRPr lang="en-US" sz="900" dirty="0"/>
          </a:p>
        </p:txBody>
      </p:sp>
      <p:sp>
        <p:nvSpPr>
          <p:cNvPr id="21" name="Shape 19"/>
          <p:cNvSpPr/>
          <p:nvPr/>
        </p:nvSpPr>
        <p:spPr>
          <a:xfrm>
            <a:off x="548640" y="3977640"/>
            <a:ext cx="3465576" cy="475488"/>
          </a:xfrm>
          <a:prstGeom prst="rect">
            <a:avLst/>
          </a:prstGeom>
          <a:solidFill>
            <a:srgbClr val="FFFFFF"/>
          </a:solidFill>
          <a:ln w="12700">
            <a:solidFill>
              <a:srgbClr val="D1D5DB"/>
            </a:solidFill>
            <a:prstDash val="solid"/>
          </a:ln>
        </p:spPr>
      </p:sp>
      <p:sp>
        <p:nvSpPr>
          <p:cNvPr id="22" name="Shape 20"/>
          <p:cNvSpPr/>
          <p:nvPr/>
        </p:nvSpPr>
        <p:spPr>
          <a:xfrm>
            <a:off x="548640" y="3977640"/>
            <a:ext cx="36576" cy="475488"/>
          </a:xfrm>
          <a:prstGeom prst="rect">
            <a:avLst/>
          </a:prstGeom>
          <a:solidFill>
            <a:srgbClr val="10B981"/>
          </a:solidFill>
          <a:ln/>
        </p:spPr>
      </p:sp>
      <p:sp>
        <p:nvSpPr>
          <p:cNvPr id="23" name="Text 21"/>
          <p:cNvSpPr/>
          <p:nvPr/>
        </p:nvSpPr>
        <p:spPr>
          <a:xfrm>
            <a:off x="640080" y="4005072"/>
            <a:ext cx="3328416" cy="237744"/>
          </a:xfrm>
          <a:prstGeom prst="rect">
            <a:avLst/>
          </a:prstGeom>
          <a:noFill/>
          <a:ln/>
        </p:spPr>
        <p:txBody>
          <a:bodyPr wrap="none" rtlCol="0" anchor="ctr"/>
          <a:lstStyle/>
          <a:p>
            <a:pPr indent="0" marL="0">
              <a:buNone/>
            </a:pPr>
            <a:r>
              <a:rPr lang="en-US" sz="1000" b="1" dirty="0">
                <a:solidFill>
                  <a:srgbClr val="1F2937"/>
                </a:solidFill>
              </a:rPr>
              <a:t>Documentos vivos con un tablero maestro</a:t>
            </a:r>
            <a:endParaRPr lang="en-US" sz="1000" dirty="0"/>
          </a:p>
        </p:txBody>
      </p:sp>
      <p:sp>
        <p:nvSpPr>
          <p:cNvPr id="24" name="Text 22"/>
          <p:cNvSpPr/>
          <p:nvPr/>
        </p:nvSpPr>
        <p:spPr>
          <a:xfrm>
            <a:off x="640080" y="4233672"/>
            <a:ext cx="3328416" cy="182880"/>
          </a:xfrm>
          <a:prstGeom prst="rect">
            <a:avLst/>
          </a:prstGeom>
          <a:noFill/>
          <a:ln/>
        </p:spPr>
        <p:txBody>
          <a:bodyPr wrap="square" rtlCol="0" anchor="ctr"/>
          <a:lstStyle/>
          <a:p>
            <a:pPr indent="0" marL="0">
              <a:buNone/>
            </a:pPr>
            <a:r>
              <a:rPr lang="en-US" sz="900" b="1" dirty="0">
                <a:solidFill>
                  <a:srgbClr val="10B981"/>
                </a:solidFill>
              </a:rPr>
              <a:t>USD 3,000</a:t>
            </a:r>
            <a:endParaRPr lang="en-US" sz="900" dirty="0"/>
          </a:p>
        </p:txBody>
      </p:sp>
      <p:sp>
        <p:nvSpPr>
          <p:cNvPr id="25" name="Text 23"/>
          <p:cNvSpPr/>
          <p:nvPr/>
        </p:nvSpPr>
        <p:spPr>
          <a:xfrm>
            <a:off x="4105656" y="3337560"/>
            <a:ext cx="137160" cy="365760"/>
          </a:xfrm>
          <a:prstGeom prst="rect">
            <a:avLst/>
          </a:prstGeom>
          <a:noFill/>
          <a:ln/>
        </p:spPr>
        <p:txBody>
          <a:bodyPr wrap="square" rtlCol="0" anchor="ctr"/>
          <a:lstStyle/>
          <a:p>
            <a:pPr algn="ctr" indent="0" marL="0">
              <a:buNone/>
            </a:pPr>
            <a:r>
              <a:rPr lang="en-US" sz="1800" b="1" dirty="0">
                <a:solidFill>
                  <a:srgbClr val="6B7280"/>
                </a:solidFill>
              </a:rPr>
              <a:t>→</a:t>
            </a:r>
            <a:endParaRPr lang="en-US" sz="1800" dirty="0"/>
          </a:p>
        </p:txBody>
      </p:sp>
      <p:sp>
        <p:nvSpPr>
          <p:cNvPr id="26" name="Shape 24"/>
          <p:cNvSpPr/>
          <p:nvPr/>
        </p:nvSpPr>
        <p:spPr>
          <a:xfrm>
            <a:off x="4215384" y="1691640"/>
            <a:ext cx="3648456" cy="411480"/>
          </a:xfrm>
          <a:prstGeom prst="rect">
            <a:avLst/>
          </a:prstGeom>
          <a:solidFill>
            <a:srgbClr val="0C1A2E"/>
          </a:solidFill>
          <a:ln/>
        </p:spPr>
      </p:sp>
      <p:sp>
        <p:nvSpPr>
          <p:cNvPr id="27" name="Text 25"/>
          <p:cNvSpPr/>
          <p:nvPr/>
        </p:nvSpPr>
        <p:spPr>
          <a:xfrm>
            <a:off x="4306824" y="1691640"/>
            <a:ext cx="3465576" cy="411480"/>
          </a:xfrm>
          <a:prstGeom prst="rect">
            <a:avLst/>
          </a:prstGeom>
          <a:noFill/>
          <a:ln/>
        </p:spPr>
        <p:txBody>
          <a:bodyPr wrap="square" rtlCol="0" anchor="ctr"/>
          <a:lstStyle/>
          <a:p>
            <a:pPr indent="0" marL="0">
              <a:buNone/>
            </a:pPr>
            <a:r>
              <a:rPr lang="en-US" sz="1100" b="1" dirty="0">
                <a:solidFill>
                  <a:srgbClr val="FFFFFF"/>
                </a:solidFill>
              </a:rPr>
              <a:t>Fase 2 — Construir los pilares (3-6 meses)</a:t>
            </a:r>
            <a:endParaRPr lang="en-US" sz="1100" dirty="0"/>
          </a:p>
        </p:txBody>
      </p:sp>
      <p:sp>
        <p:nvSpPr>
          <p:cNvPr id="28" name="Shape 26"/>
          <p:cNvSpPr/>
          <p:nvPr/>
        </p:nvSpPr>
        <p:spPr>
          <a:xfrm>
            <a:off x="4215384" y="2103120"/>
            <a:ext cx="3648456" cy="3200400"/>
          </a:xfrm>
          <a:prstGeom prst="rect">
            <a:avLst/>
          </a:prstGeom>
          <a:solidFill>
            <a:srgbClr val="F5F5F5"/>
          </a:solidFill>
          <a:ln w="12700">
            <a:solidFill>
              <a:srgbClr val="D1D5DB"/>
            </a:solidFill>
            <a:prstDash val="solid"/>
          </a:ln>
        </p:spPr>
      </p:sp>
      <p:sp>
        <p:nvSpPr>
          <p:cNvPr id="29" name="Text 27"/>
          <p:cNvSpPr/>
          <p:nvPr/>
        </p:nvSpPr>
        <p:spPr>
          <a:xfrm>
            <a:off x="4306824" y="2194560"/>
            <a:ext cx="3465576" cy="594360"/>
          </a:xfrm>
          <a:prstGeom prst="rect">
            <a:avLst/>
          </a:prstGeom>
          <a:noFill/>
          <a:ln/>
        </p:spPr>
        <p:txBody>
          <a:bodyPr wrap="square" rtlCol="0" anchor="ctr"/>
          <a:lstStyle/>
          <a:p>
            <a:pPr indent="0" marL="0">
              <a:buNone/>
            </a:pPr>
            <a:r>
              <a:rPr lang="en-US" sz="1000" i="1" dirty="0">
                <a:solidFill>
                  <a:srgbClr val="6B7280"/>
                </a:solidFill>
              </a:rPr>
              <a:t>Con las bases listas, se levanta el expediente digital de camiones (primer pilar) y se libera al equipo automatizando tareas repetitivas.</a:t>
            </a:r>
            <a:endParaRPr lang="en-US" sz="1000" dirty="0"/>
          </a:p>
        </p:txBody>
      </p:sp>
      <p:sp>
        <p:nvSpPr>
          <p:cNvPr id="30" name="Shape 28"/>
          <p:cNvSpPr/>
          <p:nvPr/>
        </p:nvSpPr>
        <p:spPr>
          <a:xfrm>
            <a:off x="4306824" y="2880360"/>
            <a:ext cx="3465576" cy="475488"/>
          </a:xfrm>
          <a:prstGeom prst="rect">
            <a:avLst/>
          </a:prstGeom>
          <a:solidFill>
            <a:srgbClr val="FFFFFF"/>
          </a:solidFill>
          <a:ln w="12700">
            <a:solidFill>
              <a:srgbClr val="D1D5DB"/>
            </a:solidFill>
            <a:prstDash val="solid"/>
          </a:ln>
        </p:spPr>
      </p:sp>
      <p:sp>
        <p:nvSpPr>
          <p:cNvPr id="31" name="Shape 29"/>
          <p:cNvSpPr/>
          <p:nvPr/>
        </p:nvSpPr>
        <p:spPr>
          <a:xfrm>
            <a:off x="4306824" y="2880360"/>
            <a:ext cx="36576" cy="475488"/>
          </a:xfrm>
          <a:prstGeom prst="rect">
            <a:avLst/>
          </a:prstGeom>
          <a:solidFill>
            <a:srgbClr val="0C1A2E"/>
          </a:solidFill>
          <a:ln/>
        </p:spPr>
      </p:sp>
      <p:sp>
        <p:nvSpPr>
          <p:cNvPr id="32" name="Text 30"/>
          <p:cNvSpPr/>
          <p:nvPr/>
        </p:nvSpPr>
        <p:spPr>
          <a:xfrm>
            <a:off x="4398264" y="2907792"/>
            <a:ext cx="3328416" cy="237744"/>
          </a:xfrm>
          <a:prstGeom prst="rect">
            <a:avLst/>
          </a:prstGeom>
          <a:noFill/>
          <a:ln/>
        </p:spPr>
        <p:txBody>
          <a:bodyPr wrap="none" rtlCol="0" anchor="ctr"/>
          <a:lstStyle/>
          <a:p>
            <a:pPr indent="0" marL="0">
              <a:buNone/>
            </a:pPr>
            <a:r>
              <a:rPr lang="en-US" sz="1000" b="1" dirty="0">
                <a:solidFill>
                  <a:srgbClr val="1F2937"/>
                </a:solidFill>
              </a:rPr>
              <a:t>Expediente digital de camiones (Pilar 1)</a:t>
            </a:r>
            <a:endParaRPr lang="en-US" sz="1000" dirty="0"/>
          </a:p>
        </p:txBody>
      </p:sp>
      <p:sp>
        <p:nvSpPr>
          <p:cNvPr id="33" name="Text 31"/>
          <p:cNvSpPr/>
          <p:nvPr/>
        </p:nvSpPr>
        <p:spPr>
          <a:xfrm>
            <a:off x="4398264" y="3136392"/>
            <a:ext cx="3328416" cy="182880"/>
          </a:xfrm>
          <a:prstGeom prst="rect">
            <a:avLst/>
          </a:prstGeom>
          <a:noFill/>
          <a:ln/>
        </p:spPr>
        <p:txBody>
          <a:bodyPr wrap="square" rtlCol="0" anchor="ctr"/>
          <a:lstStyle/>
          <a:p>
            <a:pPr indent="0" marL="0">
              <a:buNone/>
            </a:pPr>
            <a:r>
              <a:rPr lang="en-US" sz="900" b="1" dirty="0">
                <a:solidFill>
                  <a:srgbClr val="0C1A2E"/>
                </a:solidFill>
              </a:rPr>
              <a:t>USD 6,000 – 8,000</a:t>
            </a:r>
            <a:endParaRPr lang="en-US" sz="900" dirty="0"/>
          </a:p>
        </p:txBody>
      </p:sp>
      <p:sp>
        <p:nvSpPr>
          <p:cNvPr id="34" name="Shape 32"/>
          <p:cNvSpPr/>
          <p:nvPr/>
        </p:nvSpPr>
        <p:spPr>
          <a:xfrm>
            <a:off x="4306824" y="3429000"/>
            <a:ext cx="3465576" cy="475488"/>
          </a:xfrm>
          <a:prstGeom prst="rect">
            <a:avLst/>
          </a:prstGeom>
          <a:solidFill>
            <a:srgbClr val="FFFFFF"/>
          </a:solidFill>
          <a:ln w="12700">
            <a:solidFill>
              <a:srgbClr val="D1D5DB"/>
            </a:solidFill>
            <a:prstDash val="solid"/>
          </a:ln>
        </p:spPr>
      </p:sp>
      <p:sp>
        <p:nvSpPr>
          <p:cNvPr id="35" name="Shape 33"/>
          <p:cNvSpPr/>
          <p:nvPr/>
        </p:nvSpPr>
        <p:spPr>
          <a:xfrm>
            <a:off x="4306824" y="3429000"/>
            <a:ext cx="36576" cy="475488"/>
          </a:xfrm>
          <a:prstGeom prst="rect">
            <a:avLst/>
          </a:prstGeom>
          <a:solidFill>
            <a:srgbClr val="0C1A2E"/>
          </a:solidFill>
          <a:ln/>
        </p:spPr>
      </p:sp>
      <p:sp>
        <p:nvSpPr>
          <p:cNvPr id="36" name="Text 34"/>
          <p:cNvSpPr/>
          <p:nvPr/>
        </p:nvSpPr>
        <p:spPr>
          <a:xfrm>
            <a:off x="4398264" y="3456432"/>
            <a:ext cx="3328416" cy="237744"/>
          </a:xfrm>
          <a:prstGeom prst="rect">
            <a:avLst/>
          </a:prstGeom>
          <a:noFill/>
          <a:ln/>
        </p:spPr>
        <p:txBody>
          <a:bodyPr wrap="none" rtlCol="0" anchor="ctr"/>
          <a:lstStyle/>
          <a:p>
            <a:pPr indent="0" marL="0">
              <a:buNone/>
            </a:pPr>
            <a:r>
              <a:rPr lang="en-US" sz="1000" b="1" dirty="0">
                <a:solidFill>
                  <a:srgbClr val="1F2937"/>
                </a:solidFill>
              </a:rPr>
              <a:t>Libera a tu equipo: automatización por persona</a:t>
            </a:r>
            <a:endParaRPr lang="en-US" sz="1000" dirty="0"/>
          </a:p>
        </p:txBody>
      </p:sp>
      <p:sp>
        <p:nvSpPr>
          <p:cNvPr id="37" name="Text 35"/>
          <p:cNvSpPr/>
          <p:nvPr/>
        </p:nvSpPr>
        <p:spPr>
          <a:xfrm>
            <a:off x="4398264" y="3685032"/>
            <a:ext cx="3328416" cy="182880"/>
          </a:xfrm>
          <a:prstGeom prst="rect">
            <a:avLst/>
          </a:prstGeom>
          <a:noFill/>
          <a:ln/>
        </p:spPr>
        <p:txBody>
          <a:bodyPr wrap="square" rtlCol="0" anchor="ctr"/>
          <a:lstStyle/>
          <a:p>
            <a:pPr indent="0" marL="0">
              <a:buNone/>
            </a:pPr>
            <a:r>
              <a:rPr lang="en-US" sz="900" b="1" dirty="0">
                <a:solidFill>
                  <a:srgbClr val="0C1A2E"/>
                </a:solidFill>
              </a:rPr>
              <a:t>USD 3,000 – 6,000</a:t>
            </a:r>
            <a:endParaRPr lang="en-US" sz="900" dirty="0"/>
          </a:p>
        </p:txBody>
      </p:sp>
      <p:sp>
        <p:nvSpPr>
          <p:cNvPr id="38" name="Text 36"/>
          <p:cNvSpPr/>
          <p:nvPr/>
        </p:nvSpPr>
        <p:spPr>
          <a:xfrm>
            <a:off x="7863840" y="3337560"/>
            <a:ext cx="137160" cy="365760"/>
          </a:xfrm>
          <a:prstGeom prst="rect">
            <a:avLst/>
          </a:prstGeom>
          <a:noFill/>
          <a:ln/>
        </p:spPr>
        <p:txBody>
          <a:bodyPr wrap="square" rtlCol="0" anchor="ctr"/>
          <a:lstStyle/>
          <a:p>
            <a:pPr algn="ctr" indent="0" marL="0">
              <a:buNone/>
            </a:pPr>
            <a:r>
              <a:rPr lang="en-US" sz="1800" b="1" dirty="0">
                <a:solidFill>
                  <a:srgbClr val="6B7280"/>
                </a:solidFill>
              </a:rPr>
              <a:t>→</a:t>
            </a:r>
            <a:endParaRPr lang="en-US" sz="1800" dirty="0"/>
          </a:p>
        </p:txBody>
      </p:sp>
      <p:sp>
        <p:nvSpPr>
          <p:cNvPr id="39" name="Shape 37"/>
          <p:cNvSpPr/>
          <p:nvPr/>
        </p:nvSpPr>
        <p:spPr>
          <a:xfrm>
            <a:off x="7973568" y="1691640"/>
            <a:ext cx="3648456" cy="411480"/>
          </a:xfrm>
          <a:prstGeom prst="rect">
            <a:avLst/>
          </a:prstGeom>
          <a:solidFill>
            <a:srgbClr val="F59E0B"/>
          </a:solidFill>
          <a:ln/>
        </p:spPr>
      </p:sp>
      <p:sp>
        <p:nvSpPr>
          <p:cNvPr id="40" name="Text 38"/>
          <p:cNvSpPr/>
          <p:nvPr/>
        </p:nvSpPr>
        <p:spPr>
          <a:xfrm>
            <a:off x="8065008" y="1691640"/>
            <a:ext cx="3465576" cy="411480"/>
          </a:xfrm>
          <a:prstGeom prst="rect">
            <a:avLst/>
          </a:prstGeom>
          <a:noFill/>
          <a:ln/>
        </p:spPr>
        <p:txBody>
          <a:bodyPr wrap="square" rtlCol="0" anchor="ctr"/>
          <a:lstStyle/>
          <a:p>
            <a:pPr indent="0" marL="0">
              <a:buNone/>
            </a:pPr>
            <a:r>
              <a:rPr lang="en-US" sz="1100" b="1" dirty="0">
                <a:solidFill>
                  <a:srgbClr val="FFFFFF"/>
                </a:solidFill>
              </a:rPr>
              <a:t>Fase 3 — Transformación y crecimiento (6-12 meses)</a:t>
            </a:r>
            <a:endParaRPr lang="en-US" sz="1100" dirty="0"/>
          </a:p>
        </p:txBody>
      </p:sp>
      <p:sp>
        <p:nvSpPr>
          <p:cNvPr id="41" name="Shape 39"/>
          <p:cNvSpPr/>
          <p:nvPr/>
        </p:nvSpPr>
        <p:spPr>
          <a:xfrm>
            <a:off x="7973568" y="2103120"/>
            <a:ext cx="3648456" cy="3200400"/>
          </a:xfrm>
          <a:prstGeom prst="rect">
            <a:avLst/>
          </a:prstGeom>
          <a:solidFill>
            <a:srgbClr val="F5F5F5"/>
          </a:solidFill>
          <a:ln w="12700">
            <a:solidFill>
              <a:srgbClr val="D1D5DB"/>
            </a:solidFill>
            <a:prstDash val="solid"/>
          </a:ln>
        </p:spPr>
      </p:sp>
      <p:sp>
        <p:nvSpPr>
          <p:cNvPr id="42" name="Text 40"/>
          <p:cNvSpPr/>
          <p:nvPr/>
        </p:nvSpPr>
        <p:spPr>
          <a:xfrm>
            <a:off x="8065008" y="2194560"/>
            <a:ext cx="3465576" cy="594360"/>
          </a:xfrm>
          <a:prstGeom prst="rect">
            <a:avLst/>
          </a:prstGeom>
          <a:noFill/>
          <a:ln/>
        </p:spPr>
        <p:txBody>
          <a:bodyPr wrap="square" rtlCol="0" anchor="ctr"/>
          <a:lstStyle/>
          <a:p>
            <a:pPr indent="0" marL="0">
              <a:buNone/>
            </a:pPr>
            <a:r>
              <a:rPr lang="en-US" sz="1000" i="1" dirty="0">
                <a:solidFill>
                  <a:srgbClr val="6B7280"/>
                </a:solidFill>
              </a:rPr>
              <a:t>Sobre la base construida: conciliación automática de pagos del broker (135 contenedores/mes), el segundo pilar completo con tracking unificado de contenedores, portal de cliente en tiempo real, CRM para crecer, consolidación de la presencia online y eventualmente una plataforma propia. Cada paso es más fácil porque ya controlamos cómo llega la información.</a:t>
            </a:r>
            <a:endParaRPr lang="en-US" sz="1000" dirty="0"/>
          </a:p>
        </p:txBody>
      </p:sp>
      <p:sp>
        <p:nvSpPr>
          <p:cNvPr id="43" name="Shape 41"/>
          <p:cNvSpPr/>
          <p:nvPr/>
        </p:nvSpPr>
        <p:spPr>
          <a:xfrm>
            <a:off x="457200" y="5440680"/>
            <a:ext cx="11274552" cy="411480"/>
          </a:xfrm>
          <a:prstGeom prst="rect">
            <a:avLst/>
          </a:prstGeom>
          <a:solidFill>
            <a:srgbClr val="0C1A2E"/>
          </a:solidFill>
          <a:ln/>
        </p:spPr>
      </p:sp>
      <p:sp>
        <p:nvSpPr>
          <p:cNvPr id="44" name="Text 42"/>
          <p:cNvSpPr/>
          <p:nvPr/>
        </p:nvSpPr>
        <p:spPr>
          <a:xfrm>
            <a:off x="548640" y="5440680"/>
            <a:ext cx="5486400" cy="411480"/>
          </a:xfrm>
          <a:prstGeom prst="rect">
            <a:avLst/>
          </a:prstGeom>
          <a:noFill/>
          <a:ln/>
        </p:spPr>
        <p:txBody>
          <a:bodyPr wrap="square" rtlCol="0" anchor="ctr"/>
          <a:lstStyle/>
          <a:p>
            <a:pPr indent="0" marL="0">
              <a:buNone/>
            </a:pPr>
            <a:r>
              <a:rPr lang="en-US" sz="1300" b="1" dirty="0">
                <a:solidFill>
                  <a:srgbClr val="FFFFFF"/>
                </a:solidFill>
              </a:rPr>
              <a:t>Valor total del roadmap: USD 23,000</a:t>
            </a:r>
            <a:endParaRPr lang="en-US" sz="1300" dirty="0"/>
          </a:p>
        </p:txBody>
      </p:sp>
      <p:sp>
        <p:nvSpPr>
          <p:cNvPr id="45" name="Text 43"/>
          <p:cNvSpPr/>
          <p:nvPr/>
        </p:nvSpPr>
        <p:spPr>
          <a:xfrm>
            <a:off x="8074152" y="5440680"/>
            <a:ext cx="3657600" cy="411480"/>
          </a:xfrm>
          <a:prstGeom prst="rect">
            <a:avLst/>
          </a:prstGeom>
          <a:noFill/>
          <a:ln/>
        </p:spPr>
        <p:txBody>
          <a:bodyPr wrap="square" rtlCol="0" anchor="ctr"/>
          <a:lstStyle/>
          <a:p>
            <a:pPr algn="r" indent="0" marL="0">
              <a:buNone/>
            </a:pPr>
            <a:r>
              <a:rPr lang="en-US" sz="1100" dirty="0">
                <a:solidFill>
                  <a:srgbClr val="F5F5F5"/>
                </a:solidFill>
              </a:rPr>
              <a:t>5 iniciativas · 3 fases</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88952" cy="502920"/>
          </a:xfrm>
          <a:prstGeom prst="rect">
            <a:avLst/>
          </a:prstGeom>
          <a:solidFill>
            <a:srgbClr val="0C1A2E"/>
          </a:solidFill>
          <a:ln/>
        </p:spPr>
      </p:sp>
      <p:sp>
        <p:nvSpPr>
          <p:cNvPr id="3" name="Text 1"/>
          <p:cNvSpPr/>
          <p:nvPr/>
        </p:nvSpPr>
        <p:spPr>
          <a:xfrm>
            <a:off x="274320" y="0"/>
            <a:ext cx="2743200" cy="502920"/>
          </a:xfrm>
          <a:prstGeom prst="rect">
            <a:avLst/>
          </a:prstGeom>
          <a:noFill/>
          <a:ln/>
        </p:spPr>
        <p:txBody>
          <a:bodyPr wrap="square" rtlCol="0" anchor="ctr"/>
          <a:lstStyle/>
          <a:p>
            <a:pPr indent="0" marL="0">
              <a:buNone/>
            </a:pPr>
            <a:r>
              <a:rPr lang="en-US" sz="1100" b="1" dirty="0">
                <a:solidFill>
                  <a:srgbClr val="FFFFFF"/>
                </a:solidFill>
              </a:rPr>
              <a:t>NEXOSTRAT</a:t>
            </a:r>
            <a:endParaRPr lang="en-US" sz="1100" dirty="0"/>
          </a:p>
        </p:txBody>
      </p:sp>
      <p:sp>
        <p:nvSpPr>
          <p:cNvPr id="4" name="Text 2"/>
          <p:cNvSpPr/>
          <p:nvPr/>
        </p:nvSpPr>
        <p:spPr>
          <a:xfrm>
            <a:off x="411480" y="640080"/>
            <a:ext cx="11365992" cy="594360"/>
          </a:xfrm>
          <a:prstGeom prst="rect">
            <a:avLst/>
          </a:prstGeom>
          <a:noFill/>
          <a:ln/>
        </p:spPr>
        <p:txBody>
          <a:bodyPr wrap="square" rtlCol="0" anchor="ctr"/>
          <a:lstStyle/>
          <a:p>
            <a:pPr indent="0" marL="0">
              <a:buNone/>
            </a:pPr>
            <a:r>
              <a:rPr lang="en-US" sz="2800" b="1" dirty="0">
                <a:solidFill>
                  <a:srgbClr val="0C1A2E"/>
                </a:solidFill>
                <a:latin typeface="Inter" pitchFamily="34" charset="0"/>
                <a:ea typeface="Inter" pitchFamily="34" charset="-122"/>
                <a:cs typeface="Inter" pitchFamily="34" charset="-120"/>
              </a:rPr>
              <a:t>Propuesta comercial</a:t>
            </a:r>
            <a:endParaRPr lang="en-US" sz="2800" dirty="0"/>
          </a:p>
        </p:txBody>
      </p:sp>
      <p:sp>
        <p:nvSpPr>
          <p:cNvPr id="5" name="Text 3"/>
          <p:cNvSpPr/>
          <p:nvPr/>
        </p:nvSpPr>
        <p:spPr>
          <a:xfrm>
            <a:off x="411480" y="1234440"/>
            <a:ext cx="11365992" cy="320040"/>
          </a:xfrm>
          <a:prstGeom prst="rect">
            <a:avLst/>
          </a:prstGeom>
          <a:noFill/>
          <a:ln/>
        </p:spPr>
        <p:txBody>
          <a:bodyPr wrap="square" rtlCol="0" anchor="ctr"/>
          <a:lstStyle/>
          <a:p>
            <a:pPr indent="0" marL="0">
              <a:buNone/>
            </a:pPr>
            <a:r>
              <a:rPr lang="en-US" sz="1300" dirty="0">
                <a:solidFill>
                  <a:srgbClr val="6B7280"/>
                </a:solidFill>
                <a:latin typeface="Inter" pitchFamily="34" charset="0"/>
                <a:ea typeface="Inter" pitchFamily="34" charset="-122"/>
                <a:cs typeface="Inter" pitchFamily="34" charset="-120"/>
              </a:rPr>
              <a:t>Cómo avanzar juntos al Ciclo 2</a:t>
            </a:r>
            <a:endParaRPr lang="en-US" sz="1300" dirty="0"/>
          </a:p>
        </p:txBody>
      </p:sp>
      <p:sp>
        <p:nvSpPr>
          <p:cNvPr id="6" name="Shape 4"/>
          <p:cNvSpPr/>
          <p:nvPr/>
        </p:nvSpPr>
        <p:spPr>
          <a:xfrm>
            <a:off x="0" y="6537960"/>
            <a:ext cx="12188952" cy="320040"/>
          </a:xfrm>
          <a:prstGeom prst="rect">
            <a:avLst/>
          </a:prstGeom>
          <a:solidFill>
            <a:srgbClr val="D1D5DB"/>
          </a:solidFill>
          <a:ln/>
        </p:spPr>
      </p:sp>
      <p:sp>
        <p:nvSpPr>
          <p:cNvPr id="7" name="Text 5"/>
          <p:cNvSpPr/>
          <p:nvPr/>
        </p:nvSpPr>
        <p:spPr>
          <a:xfrm>
            <a:off x="274320" y="6537960"/>
            <a:ext cx="5486400" cy="320040"/>
          </a:xfrm>
          <a:prstGeom prst="rect">
            <a:avLst/>
          </a:prstGeom>
          <a:noFill/>
          <a:ln/>
        </p:spPr>
        <p:txBody>
          <a:bodyPr wrap="square" rtlCol="0" anchor="ctr"/>
          <a:lstStyle/>
          <a:p>
            <a:pPr indent="0" marL="0">
              <a:buNone/>
            </a:pPr>
            <a:r>
              <a:rPr lang="en-US" sz="900" dirty="0">
                <a:solidFill>
                  <a:srgbClr val="6B7280"/>
                </a:solidFill>
              </a:rPr>
              <a:t>Grupo Trixx · 28 de mayo de 2026</a:t>
            </a:r>
            <a:endParaRPr lang="en-US" sz="900" dirty="0"/>
          </a:p>
        </p:txBody>
      </p:sp>
      <p:sp>
        <p:nvSpPr>
          <p:cNvPr id="8" name="Text 6"/>
          <p:cNvSpPr/>
          <p:nvPr/>
        </p:nvSpPr>
        <p:spPr>
          <a:xfrm>
            <a:off x="9445752" y="6537960"/>
            <a:ext cx="2468880" cy="320040"/>
          </a:xfrm>
          <a:prstGeom prst="rect">
            <a:avLst/>
          </a:prstGeom>
          <a:noFill/>
          <a:ln/>
        </p:spPr>
        <p:txBody>
          <a:bodyPr wrap="square" rtlCol="0" anchor="ctr"/>
          <a:lstStyle/>
          <a:p>
            <a:pPr algn="r" indent="0" marL="0">
              <a:buNone/>
            </a:pPr>
            <a:r>
              <a:rPr lang="en-US" sz="900" dirty="0">
                <a:solidFill>
                  <a:srgbClr val="6B7280"/>
                </a:solidFill>
              </a:rPr>
              <a:t>nexostrat.co</a:t>
            </a:r>
            <a:endParaRPr lang="en-US" sz="900" dirty="0"/>
          </a:p>
        </p:txBody>
      </p:sp>
      <p:sp>
        <p:nvSpPr>
          <p:cNvPr id="9" name="Shape 7"/>
          <p:cNvSpPr/>
          <p:nvPr/>
        </p:nvSpPr>
        <p:spPr>
          <a:xfrm>
            <a:off x="411480" y="1691640"/>
            <a:ext cx="11365992" cy="640080"/>
          </a:xfrm>
          <a:prstGeom prst="rect">
            <a:avLst/>
          </a:prstGeom>
          <a:solidFill>
            <a:srgbClr val="F0FBFF"/>
          </a:solidFill>
          <a:ln w="12700">
            <a:solidFill>
              <a:srgbClr val="E0F2FE"/>
            </a:solidFill>
            <a:prstDash val="solid"/>
          </a:ln>
        </p:spPr>
      </p:sp>
      <p:sp>
        <p:nvSpPr>
          <p:cNvPr id="10" name="Text 8"/>
          <p:cNvSpPr/>
          <p:nvPr/>
        </p:nvSpPr>
        <p:spPr>
          <a:xfrm>
            <a:off x="548640" y="1737360"/>
            <a:ext cx="5029200" cy="274320"/>
          </a:xfrm>
          <a:prstGeom prst="rect">
            <a:avLst/>
          </a:prstGeom>
          <a:noFill/>
          <a:ln/>
        </p:spPr>
        <p:txBody>
          <a:bodyPr wrap="square" rtlCol="0" anchor="ctr"/>
          <a:lstStyle/>
          <a:p>
            <a:pPr indent="0" marL="0">
              <a:buNone/>
            </a:pPr>
            <a:r>
              <a:rPr lang="en-US" sz="1000" dirty="0">
                <a:solidFill>
                  <a:srgbClr val="6B7280"/>
                </a:solidFill>
              </a:rPr>
              <a:t>Valor total del roadmap completo (referencia):</a:t>
            </a:r>
            <a:endParaRPr lang="en-US" sz="1000" dirty="0"/>
          </a:p>
        </p:txBody>
      </p:sp>
      <p:sp>
        <p:nvSpPr>
          <p:cNvPr id="11" name="Text 9"/>
          <p:cNvSpPr/>
          <p:nvPr/>
        </p:nvSpPr>
        <p:spPr>
          <a:xfrm>
            <a:off x="548640" y="1984248"/>
            <a:ext cx="3657600" cy="301752"/>
          </a:xfrm>
          <a:prstGeom prst="rect">
            <a:avLst/>
          </a:prstGeom>
          <a:noFill/>
          <a:ln/>
        </p:spPr>
        <p:txBody>
          <a:bodyPr wrap="square" rtlCol="0" anchor="ctr"/>
          <a:lstStyle/>
          <a:p>
            <a:pPr indent="0" marL="0">
              <a:buNone/>
            </a:pPr>
            <a:r>
              <a:rPr lang="en-US" sz="2000" b="1" dirty="0">
                <a:solidFill>
                  <a:srgbClr val="0C1A2E"/>
                </a:solidFill>
              </a:rPr>
              <a:t>USD 23,000</a:t>
            </a:r>
            <a:endParaRPr lang="en-US" sz="2000" dirty="0"/>
          </a:p>
        </p:txBody>
      </p:sp>
      <p:sp>
        <p:nvSpPr>
          <p:cNvPr id="12" name="Text 10"/>
          <p:cNvSpPr/>
          <p:nvPr/>
        </p:nvSpPr>
        <p:spPr>
          <a:xfrm>
            <a:off x="4389120" y="2039112"/>
            <a:ext cx="3657600" cy="228600"/>
          </a:xfrm>
          <a:prstGeom prst="rect">
            <a:avLst/>
          </a:prstGeom>
          <a:noFill/>
          <a:ln/>
        </p:spPr>
        <p:txBody>
          <a:bodyPr wrap="square" rtlCol="0" anchor="ctr"/>
          <a:lstStyle/>
          <a:p>
            <a:pPr indent="0" marL="0">
              <a:buNone/>
            </a:pPr>
            <a:r>
              <a:rPr lang="en-US" sz="1000" dirty="0">
                <a:solidFill>
                  <a:srgbClr val="6B7280"/>
                </a:solidFill>
              </a:rPr>
              <a:t>5 iniciativas · 3 fases</a:t>
            </a:r>
            <a:endParaRPr lang="en-US" sz="1000" dirty="0"/>
          </a:p>
        </p:txBody>
      </p:sp>
      <p:sp>
        <p:nvSpPr>
          <p:cNvPr id="13" name="Text 11"/>
          <p:cNvSpPr/>
          <p:nvPr/>
        </p:nvSpPr>
        <p:spPr>
          <a:xfrm>
            <a:off x="411480" y="2404872"/>
            <a:ext cx="11365992" cy="274320"/>
          </a:xfrm>
          <a:prstGeom prst="rect">
            <a:avLst/>
          </a:prstGeom>
          <a:noFill/>
          <a:ln/>
        </p:spPr>
        <p:txBody>
          <a:bodyPr wrap="square" rtlCol="0" anchor="ctr"/>
          <a:lstStyle/>
          <a:p>
            <a:pPr indent="0" marL="0">
              <a:buNone/>
            </a:pPr>
            <a:r>
              <a:rPr lang="en-US" sz="1100" b="1" dirty="0">
                <a:solidFill>
                  <a:srgbClr val="10B981"/>
                </a:solidFill>
              </a:rPr>
              <a:t>↓ Iniciativa de entrada sugerida</a:t>
            </a:r>
            <a:endParaRPr lang="en-US" sz="1100" dirty="0"/>
          </a:p>
        </p:txBody>
      </p:sp>
      <p:sp>
        <p:nvSpPr>
          <p:cNvPr id="14" name="Shape 12"/>
          <p:cNvSpPr/>
          <p:nvPr/>
        </p:nvSpPr>
        <p:spPr>
          <a:xfrm>
            <a:off x="411480" y="2715768"/>
            <a:ext cx="6251296" cy="1371600"/>
          </a:xfrm>
          <a:prstGeom prst="rect">
            <a:avLst/>
          </a:prstGeom>
          <a:solidFill>
            <a:srgbClr val="ECFDF5"/>
          </a:solidFill>
          <a:ln w="25400">
            <a:solidFill>
              <a:srgbClr val="10B981"/>
            </a:solidFill>
            <a:prstDash val="solid"/>
          </a:ln>
        </p:spPr>
      </p:sp>
      <p:sp>
        <p:nvSpPr>
          <p:cNvPr id="15" name="Text 13"/>
          <p:cNvSpPr/>
          <p:nvPr/>
        </p:nvSpPr>
        <p:spPr>
          <a:xfrm>
            <a:off x="548640" y="2770632"/>
            <a:ext cx="6022696" cy="365760"/>
          </a:xfrm>
          <a:prstGeom prst="rect">
            <a:avLst/>
          </a:prstGeom>
          <a:noFill/>
          <a:ln/>
        </p:spPr>
        <p:txBody>
          <a:bodyPr wrap="square" rtlCol="0" anchor="ctr"/>
          <a:lstStyle/>
          <a:p>
            <a:pPr indent="0" marL="0">
              <a:buNone/>
            </a:pPr>
            <a:r>
              <a:rPr lang="en-US" sz="1400" b="1" dirty="0">
                <a:solidFill>
                  <a:srgbClr val="0C1A2E"/>
                </a:solidFill>
              </a:rPr>
              <a:t>Asistente de WhatsApp que organiza la información</a:t>
            </a:r>
            <a:endParaRPr lang="en-US" sz="1400" dirty="0"/>
          </a:p>
        </p:txBody>
      </p:sp>
      <p:sp>
        <p:nvSpPr>
          <p:cNvPr id="16" name="Text 14"/>
          <p:cNvSpPr/>
          <p:nvPr/>
        </p:nvSpPr>
        <p:spPr>
          <a:xfrm>
            <a:off x="548640" y="3172968"/>
            <a:ext cx="6022696" cy="502920"/>
          </a:xfrm>
          <a:prstGeom prst="rect">
            <a:avLst/>
          </a:prstGeom>
          <a:noFill/>
          <a:ln/>
        </p:spPr>
        <p:txBody>
          <a:bodyPr wrap="square" rtlCol="0" anchor="ctr"/>
          <a:lstStyle/>
          <a:p>
            <a:pPr indent="0" marL="0">
              <a:buNone/>
            </a:pPr>
            <a:r>
              <a:rPr lang="en-US" sz="1000" dirty="0">
                <a:solidFill>
                  <a:srgbClr val="1F2937"/>
                </a:solidFill>
              </a:rPr>
              <a:t>Un asistente inteligente conectado a los grupos de WhatsApp que lee los mensajes, distingue lo importante y extrae los datos de fotos, PDF, Excel y hojas escritas a mano, organizándolos solo en el documento central y generando alertas. El equipo sigue usando WhatsApp igual que hoy.</a:t>
            </a:r>
            <a:endParaRPr lang="en-US" sz="1000" dirty="0"/>
          </a:p>
        </p:txBody>
      </p:sp>
      <p:sp>
        <p:nvSpPr>
          <p:cNvPr id="17" name="Shape 15"/>
          <p:cNvSpPr/>
          <p:nvPr/>
        </p:nvSpPr>
        <p:spPr>
          <a:xfrm>
            <a:off x="6799936" y="2715768"/>
            <a:ext cx="4773717" cy="1371600"/>
          </a:xfrm>
          <a:prstGeom prst="rect">
            <a:avLst/>
          </a:prstGeom>
          <a:solidFill>
            <a:srgbClr val="0C1A2E"/>
          </a:solidFill>
          <a:ln/>
        </p:spPr>
      </p:sp>
      <p:sp>
        <p:nvSpPr>
          <p:cNvPr id="18" name="Text 16"/>
          <p:cNvSpPr/>
          <p:nvPr/>
        </p:nvSpPr>
        <p:spPr>
          <a:xfrm>
            <a:off x="6937096" y="2788920"/>
            <a:ext cx="4499397" cy="274320"/>
          </a:xfrm>
          <a:prstGeom prst="rect">
            <a:avLst/>
          </a:prstGeom>
          <a:noFill/>
          <a:ln/>
        </p:spPr>
        <p:txBody>
          <a:bodyPr wrap="square" rtlCol="0" anchor="ctr"/>
          <a:lstStyle/>
          <a:p>
            <a:pPr indent="0" marL="0">
              <a:buNone/>
            </a:pPr>
            <a:r>
              <a:rPr lang="en-US" sz="1100" b="1" dirty="0">
                <a:solidFill>
                  <a:srgbClr val="F5F5F5"/>
                </a:solidFill>
              </a:rPr>
              <a:t>Inversión</a:t>
            </a:r>
            <a:endParaRPr lang="en-US" sz="1100" dirty="0"/>
          </a:p>
        </p:txBody>
      </p:sp>
      <p:sp>
        <p:nvSpPr>
          <p:cNvPr id="19" name="Text 17"/>
          <p:cNvSpPr/>
          <p:nvPr/>
        </p:nvSpPr>
        <p:spPr>
          <a:xfrm>
            <a:off x="6937096" y="3081528"/>
            <a:ext cx="4499397" cy="411480"/>
          </a:xfrm>
          <a:prstGeom prst="rect">
            <a:avLst/>
          </a:prstGeom>
          <a:noFill/>
          <a:ln/>
        </p:spPr>
        <p:txBody>
          <a:bodyPr wrap="square" rtlCol="0" anchor="ctr"/>
          <a:lstStyle/>
          <a:p>
            <a:pPr indent="0" marL="0">
              <a:buNone/>
            </a:pPr>
            <a:r>
              <a:rPr lang="en-US" sz="2000" b="1" dirty="0">
                <a:solidFill>
                  <a:srgbClr val="F59E0B"/>
                </a:solidFill>
              </a:rPr>
              <a:t>USD 3,000</a:t>
            </a:r>
            <a:endParaRPr lang="en-US" sz="2000" dirty="0"/>
          </a:p>
        </p:txBody>
      </p:sp>
      <p:sp>
        <p:nvSpPr>
          <p:cNvPr id="20" name="Text 18"/>
          <p:cNvSpPr/>
          <p:nvPr/>
        </p:nvSpPr>
        <p:spPr>
          <a:xfrm>
            <a:off x="6937096" y="3493008"/>
            <a:ext cx="4499397" cy="228600"/>
          </a:xfrm>
          <a:prstGeom prst="rect">
            <a:avLst/>
          </a:prstGeom>
          <a:noFill/>
          <a:ln/>
        </p:spPr>
        <p:txBody>
          <a:bodyPr wrap="square" rtlCol="0" anchor="ctr"/>
          <a:lstStyle/>
          <a:p>
            <a:pPr indent="0" marL="0">
              <a:buNone/>
            </a:pPr>
            <a:r>
              <a:rPr lang="en-US" sz="900" dirty="0">
                <a:solidFill>
                  <a:srgbClr val="F5F5F5"/>
                </a:solidFill>
              </a:rPr>
              <a:t>+ USD 80/mes infraestructura</a:t>
            </a:r>
            <a:endParaRPr lang="en-US" sz="900" dirty="0"/>
          </a:p>
        </p:txBody>
      </p:sp>
      <p:sp>
        <p:nvSpPr>
          <p:cNvPr id="21" name="Text 19"/>
          <p:cNvSpPr/>
          <p:nvPr/>
        </p:nvSpPr>
        <p:spPr>
          <a:xfrm>
            <a:off x="6937096" y="3721608"/>
            <a:ext cx="4499397" cy="228600"/>
          </a:xfrm>
          <a:prstGeom prst="rect">
            <a:avLst/>
          </a:prstGeom>
          <a:noFill/>
          <a:ln/>
        </p:spPr>
        <p:txBody>
          <a:bodyPr wrap="square" rtlCol="0" anchor="ctr"/>
          <a:lstStyle/>
          <a:p>
            <a:pPr indent="0" marL="0">
              <a:buNone/>
            </a:pPr>
            <a:r>
              <a:rPr lang="en-US" sz="900" dirty="0">
                <a:solidFill>
                  <a:srgbClr val="10B981"/>
                </a:solidFill>
              </a:rPr>
              <a:t>1 mes de garantía incluido</a:t>
            </a:r>
            <a:endParaRPr lang="en-US" sz="900" dirty="0"/>
          </a:p>
        </p:txBody>
      </p:sp>
      <p:sp>
        <p:nvSpPr>
          <p:cNvPr id="22" name="Shape 20"/>
          <p:cNvSpPr/>
          <p:nvPr/>
        </p:nvSpPr>
        <p:spPr>
          <a:xfrm>
            <a:off x="411480" y="4206240"/>
            <a:ext cx="11365992" cy="548640"/>
          </a:xfrm>
          <a:prstGeom prst="rect">
            <a:avLst/>
          </a:prstGeom>
          <a:solidFill>
            <a:srgbClr val="F5F5F5"/>
          </a:solidFill>
          <a:ln w="12700">
            <a:solidFill>
              <a:srgbClr val="D1D5DB"/>
            </a:solidFill>
            <a:prstDash val="solid"/>
          </a:ln>
        </p:spPr>
      </p:sp>
      <p:sp>
        <p:nvSpPr>
          <p:cNvPr id="23" name="Text 21"/>
          <p:cNvSpPr/>
          <p:nvPr/>
        </p:nvSpPr>
        <p:spPr>
          <a:xfrm>
            <a:off x="548640" y="4233672"/>
            <a:ext cx="2011680" cy="256032"/>
          </a:xfrm>
          <a:prstGeom prst="rect">
            <a:avLst/>
          </a:prstGeom>
          <a:noFill/>
          <a:ln/>
        </p:spPr>
        <p:txBody>
          <a:bodyPr wrap="square" rtlCol="0" anchor="ctr"/>
          <a:lstStyle/>
          <a:p>
            <a:pPr indent="0" marL="0">
              <a:buNone/>
            </a:pPr>
            <a:r>
              <a:rPr lang="en-US" sz="1050" b="1" dirty="0">
                <a:solidFill>
                  <a:srgbClr val="0C1A2E"/>
                </a:solidFill>
              </a:rPr>
              <a:t>Estructura de pago:</a:t>
            </a:r>
            <a:endParaRPr lang="en-US" sz="1050" dirty="0"/>
          </a:p>
        </p:txBody>
      </p:sp>
      <p:sp>
        <p:nvSpPr>
          <p:cNvPr id="24" name="Text 22"/>
          <p:cNvSpPr/>
          <p:nvPr/>
        </p:nvSpPr>
        <p:spPr>
          <a:xfrm>
            <a:off x="2606040" y="4270248"/>
            <a:ext cx="9171432" cy="457200"/>
          </a:xfrm>
          <a:prstGeom prst="rect">
            <a:avLst/>
          </a:prstGeom>
          <a:noFill/>
          <a:ln/>
        </p:spPr>
        <p:txBody>
          <a:bodyPr wrap="square" rtlCol="0" anchor="ctr"/>
          <a:lstStyle/>
          <a:p>
            <a:pPr indent="0" marL="0">
              <a:buNone/>
            </a:pPr>
            <a:r>
              <a:rPr lang="en-US" sz="1050" dirty="0">
                <a:solidFill>
                  <a:srgbClr val="1F2937"/>
                </a:solidFill>
              </a:rPr>
              <a:t>Upfront al confirmar  +  Saldo a la entrega final.  Solo pagas el total cuando ves el resultado funcionando.</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88952" cy="502920"/>
          </a:xfrm>
          <a:prstGeom prst="rect">
            <a:avLst/>
          </a:prstGeom>
          <a:solidFill>
            <a:srgbClr val="0C1A2E"/>
          </a:solidFill>
          <a:ln/>
        </p:spPr>
      </p:sp>
      <p:sp>
        <p:nvSpPr>
          <p:cNvPr id="3" name="Text 1"/>
          <p:cNvSpPr/>
          <p:nvPr/>
        </p:nvSpPr>
        <p:spPr>
          <a:xfrm>
            <a:off x="274320" y="0"/>
            <a:ext cx="2743200" cy="502920"/>
          </a:xfrm>
          <a:prstGeom prst="rect">
            <a:avLst/>
          </a:prstGeom>
          <a:noFill/>
          <a:ln/>
        </p:spPr>
        <p:txBody>
          <a:bodyPr wrap="square" rtlCol="0" anchor="ctr"/>
          <a:lstStyle/>
          <a:p>
            <a:pPr indent="0" marL="0">
              <a:buNone/>
            </a:pPr>
            <a:r>
              <a:rPr lang="en-US" sz="1100" b="1" dirty="0">
                <a:solidFill>
                  <a:srgbClr val="FFFFFF"/>
                </a:solidFill>
              </a:rPr>
              <a:t>NEXOSTRAT</a:t>
            </a:r>
            <a:endParaRPr lang="en-US" sz="1100" dirty="0"/>
          </a:p>
        </p:txBody>
      </p:sp>
      <p:sp>
        <p:nvSpPr>
          <p:cNvPr id="4" name="Text 2"/>
          <p:cNvSpPr/>
          <p:nvPr/>
        </p:nvSpPr>
        <p:spPr>
          <a:xfrm>
            <a:off x="411480" y="640080"/>
            <a:ext cx="11365992" cy="594360"/>
          </a:xfrm>
          <a:prstGeom prst="rect">
            <a:avLst/>
          </a:prstGeom>
          <a:noFill/>
          <a:ln/>
        </p:spPr>
        <p:txBody>
          <a:bodyPr wrap="square" rtlCol="0" anchor="ctr"/>
          <a:lstStyle/>
          <a:p>
            <a:pPr indent="0" marL="0">
              <a:buNone/>
            </a:pPr>
            <a:r>
              <a:rPr lang="en-US" sz="2800" b="1" dirty="0">
                <a:solidFill>
                  <a:srgbClr val="0C1A2E"/>
                </a:solidFill>
                <a:latin typeface="Inter" pitchFamily="34" charset="0"/>
                <a:ea typeface="Inter" pitchFamily="34" charset="-122"/>
                <a:cs typeface="Inter" pitchFamily="34" charset="-120"/>
              </a:rPr>
              <a:t>Próximos pasos</a:t>
            </a:r>
            <a:endParaRPr lang="en-US" sz="2800" dirty="0"/>
          </a:p>
        </p:txBody>
      </p:sp>
      <p:sp>
        <p:nvSpPr>
          <p:cNvPr id="5" name="Text 3"/>
          <p:cNvSpPr/>
          <p:nvPr/>
        </p:nvSpPr>
        <p:spPr>
          <a:xfrm>
            <a:off x="411480" y="1234440"/>
            <a:ext cx="11365992" cy="320040"/>
          </a:xfrm>
          <a:prstGeom prst="rect">
            <a:avLst/>
          </a:prstGeom>
          <a:noFill/>
          <a:ln/>
        </p:spPr>
        <p:txBody>
          <a:bodyPr wrap="square" rtlCol="0" anchor="ctr"/>
          <a:lstStyle/>
          <a:p>
            <a:pPr indent="0" marL="0">
              <a:buNone/>
            </a:pPr>
            <a:r>
              <a:rPr lang="en-US" sz="1300" dirty="0">
                <a:solidFill>
                  <a:srgbClr val="6B7280"/>
                </a:solidFill>
                <a:latin typeface="Inter" pitchFamily="34" charset="0"/>
                <a:ea typeface="Inter" pitchFamily="34" charset="-122"/>
                <a:cs typeface="Inter" pitchFamily="34" charset="-120"/>
              </a:rPr>
              <a:t>¿Cómo avanzamos?</a:t>
            </a:r>
            <a:endParaRPr lang="en-US" sz="1300" dirty="0"/>
          </a:p>
        </p:txBody>
      </p:sp>
      <p:sp>
        <p:nvSpPr>
          <p:cNvPr id="6" name="Shape 4"/>
          <p:cNvSpPr/>
          <p:nvPr/>
        </p:nvSpPr>
        <p:spPr>
          <a:xfrm>
            <a:off x="0" y="6537960"/>
            <a:ext cx="12188952" cy="320040"/>
          </a:xfrm>
          <a:prstGeom prst="rect">
            <a:avLst/>
          </a:prstGeom>
          <a:solidFill>
            <a:srgbClr val="D1D5DB"/>
          </a:solidFill>
          <a:ln/>
        </p:spPr>
      </p:sp>
      <p:sp>
        <p:nvSpPr>
          <p:cNvPr id="7" name="Text 5"/>
          <p:cNvSpPr/>
          <p:nvPr/>
        </p:nvSpPr>
        <p:spPr>
          <a:xfrm>
            <a:off x="274320" y="6537960"/>
            <a:ext cx="5486400" cy="320040"/>
          </a:xfrm>
          <a:prstGeom prst="rect">
            <a:avLst/>
          </a:prstGeom>
          <a:noFill/>
          <a:ln/>
        </p:spPr>
        <p:txBody>
          <a:bodyPr wrap="square" rtlCol="0" anchor="ctr"/>
          <a:lstStyle/>
          <a:p>
            <a:pPr indent="0" marL="0">
              <a:buNone/>
            </a:pPr>
            <a:r>
              <a:rPr lang="en-US" sz="900" dirty="0">
                <a:solidFill>
                  <a:srgbClr val="6B7280"/>
                </a:solidFill>
              </a:rPr>
              <a:t>Grupo Trixx · 28 de mayo de 2026</a:t>
            </a:r>
            <a:endParaRPr lang="en-US" sz="900" dirty="0"/>
          </a:p>
        </p:txBody>
      </p:sp>
      <p:sp>
        <p:nvSpPr>
          <p:cNvPr id="8" name="Text 6"/>
          <p:cNvSpPr/>
          <p:nvPr/>
        </p:nvSpPr>
        <p:spPr>
          <a:xfrm>
            <a:off x="9445752" y="6537960"/>
            <a:ext cx="2468880" cy="320040"/>
          </a:xfrm>
          <a:prstGeom prst="rect">
            <a:avLst/>
          </a:prstGeom>
          <a:noFill/>
          <a:ln/>
        </p:spPr>
        <p:txBody>
          <a:bodyPr wrap="square" rtlCol="0" anchor="ctr"/>
          <a:lstStyle/>
          <a:p>
            <a:pPr algn="r" indent="0" marL="0">
              <a:buNone/>
            </a:pPr>
            <a:r>
              <a:rPr lang="en-US" sz="900" dirty="0">
                <a:solidFill>
                  <a:srgbClr val="6B7280"/>
                </a:solidFill>
              </a:rPr>
              <a:t>nexostrat.co</a:t>
            </a:r>
            <a:endParaRPr lang="en-US" sz="900" dirty="0"/>
          </a:p>
        </p:txBody>
      </p:sp>
      <p:sp>
        <p:nvSpPr>
          <p:cNvPr id="9" name="Shape 7"/>
          <p:cNvSpPr/>
          <p:nvPr/>
        </p:nvSpPr>
        <p:spPr>
          <a:xfrm>
            <a:off x="457200" y="1691640"/>
            <a:ext cx="2708910" cy="3291840"/>
          </a:xfrm>
          <a:prstGeom prst="rect">
            <a:avLst/>
          </a:prstGeom>
          <a:solidFill>
            <a:srgbClr val="F5F5F5"/>
          </a:solidFill>
          <a:ln w="12700">
            <a:solidFill>
              <a:srgbClr val="D1D5DB"/>
            </a:solidFill>
            <a:prstDash val="solid"/>
          </a:ln>
        </p:spPr>
      </p:sp>
      <p:sp>
        <p:nvSpPr>
          <p:cNvPr id="10" name="Shape 8"/>
          <p:cNvSpPr/>
          <p:nvPr/>
        </p:nvSpPr>
        <p:spPr>
          <a:xfrm>
            <a:off x="457200" y="1691640"/>
            <a:ext cx="2708910" cy="36576"/>
          </a:xfrm>
          <a:prstGeom prst="rect">
            <a:avLst/>
          </a:prstGeom>
          <a:solidFill>
            <a:srgbClr val="10B981"/>
          </a:solidFill>
          <a:ln/>
        </p:spPr>
      </p:sp>
      <p:sp>
        <p:nvSpPr>
          <p:cNvPr id="11" name="Shape 9"/>
          <p:cNvSpPr/>
          <p:nvPr/>
        </p:nvSpPr>
        <p:spPr>
          <a:xfrm>
            <a:off x="566928" y="1828800"/>
            <a:ext cx="914400" cy="246888"/>
          </a:xfrm>
          <a:prstGeom prst="rect">
            <a:avLst/>
          </a:prstGeom>
          <a:solidFill>
            <a:srgbClr val="F0FBFF"/>
          </a:solidFill>
          <a:ln w="12700">
            <a:solidFill>
              <a:srgbClr val="E0F2FE"/>
            </a:solidFill>
            <a:prstDash val="solid"/>
          </a:ln>
        </p:spPr>
      </p:sp>
      <p:sp>
        <p:nvSpPr>
          <p:cNvPr id="12" name="Text 10"/>
          <p:cNvSpPr/>
          <p:nvPr/>
        </p:nvSpPr>
        <p:spPr>
          <a:xfrm>
            <a:off x="566928" y="1828800"/>
            <a:ext cx="914400" cy="246888"/>
          </a:xfrm>
          <a:prstGeom prst="rect">
            <a:avLst/>
          </a:prstGeom>
          <a:noFill/>
          <a:ln/>
        </p:spPr>
        <p:txBody>
          <a:bodyPr wrap="square" rtlCol="0" anchor="ctr"/>
          <a:lstStyle/>
          <a:p>
            <a:pPr algn="ctr" indent="0" marL="0">
              <a:buNone/>
            </a:pPr>
            <a:r>
              <a:rPr lang="en-US" sz="900" b="1" dirty="0">
                <a:solidFill>
                  <a:srgbClr val="0C1A2E"/>
                </a:solidFill>
              </a:rPr>
              <a:t>Hoy</a:t>
            </a:r>
            <a:endParaRPr lang="en-US" sz="900" dirty="0"/>
          </a:p>
        </p:txBody>
      </p:sp>
      <p:sp>
        <p:nvSpPr>
          <p:cNvPr id="13" name="Text 11"/>
          <p:cNvSpPr/>
          <p:nvPr/>
        </p:nvSpPr>
        <p:spPr>
          <a:xfrm>
            <a:off x="1560195" y="2194560"/>
            <a:ext cx="502920" cy="457200"/>
          </a:xfrm>
          <a:prstGeom prst="rect">
            <a:avLst/>
          </a:prstGeom>
          <a:noFill/>
          <a:ln/>
        </p:spPr>
        <p:txBody>
          <a:bodyPr wrap="square" rtlCol="0" anchor="ctr"/>
          <a:lstStyle/>
          <a:p>
            <a:pPr algn="ctr" indent="0" marL="0">
              <a:buNone/>
            </a:pPr>
            <a:r>
              <a:rPr lang="en-US" sz="2200" dirty="0">
                <a:solidFill>
                  <a:srgbClr val="000000"/>
                </a:solidFill>
              </a:rPr>
              <a:t>1</a:t>
            </a:r>
            <a:endParaRPr lang="en-US" sz="2200" dirty="0"/>
          </a:p>
        </p:txBody>
      </p:sp>
      <p:sp>
        <p:nvSpPr>
          <p:cNvPr id="14" name="Text 12"/>
          <p:cNvSpPr/>
          <p:nvPr/>
        </p:nvSpPr>
        <p:spPr>
          <a:xfrm>
            <a:off x="548640" y="2743200"/>
            <a:ext cx="2526030" cy="457200"/>
          </a:xfrm>
          <a:prstGeom prst="rect">
            <a:avLst/>
          </a:prstGeom>
          <a:noFill/>
          <a:ln/>
        </p:spPr>
        <p:txBody>
          <a:bodyPr wrap="square" rtlCol="0" anchor="ctr"/>
          <a:lstStyle/>
          <a:p>
            <a:pPr algn="ctr" indent="0" marL="0">
              <a:buNone/>
            </a:pPr>
            <a:r>
              <a:rPr lang="en-US" sz="1150" b="1" dirty="0">
                <a:solidFill>
                  <a:srgbClr val="0C1A2E"/>
                </a:solidFill>
              </a:rPr>
              <a:t>Recibes el documento completo</a:t>
            </a:r>
            <a:endParaRPr lang="en-US" sz="1150" dirty="0"/>
          </a:p>
        </p:txBody>
      </p:sp>
      <p:sp>
        <p:nvSpPr>
          <p:cNvPr id="15" name="Text 13"/>
          <p:cNvSpPr/>
          <p:nvPr/>
        </p:nvSpPr>
        <p:spPr>
          <a:xfrm>
            <a:off x="548640" y="3291840"/>
            <a:ext cx="2526030" cy="1508760"/>
          </a:xfrm>
          <a:prstGeom prst="rect">
            <a:avLst/>
          </a:prstGeom>
          <a:noFill/>
          <a:ln/>
        </p:spPr>
        <p:txBody>
          <a:bodyPr wrap="square" rtlCol="0" anchor="t"/>
          <a:lstStyle/>
          <a:p>
            <a:pPr algn="ctr" indent="0" marL="0">
              <a:buNone/>
            </a:pPr>
            <a:r>
              <a:rPr lang="en-US" sz="1000" dirty="0">
                <a:solidFill>
                  <a:srgbClr val="1F2937"/>
                </a:solidFill>
              </a:rPr>
              <a:t>Te enviamos el PDF con todo el análisis para que puedas revisarlo con calma, compartirlo con tu equipo y resolver cualquier pregunta.</a:t>
            </a:r>
            <a:endParaRPr lang="en-US" sz="1000" dirty="0"/>
          </a:p>
        </p:txBody>
      </p:sp>
      <p:sp>
        <p:nvSpPr>
          <p:cNvPr id="16" name="Text 14"/>
          <p:cNvSpPr/>
          <p:nvPr/>
        </p:nvSpPr>
        <p:spPr>
          <a:xfrm>
            <a:off x="3166110" y="3337560"/>
            <a:ext cx="137160" cy="365760"/>
          </a:xfrm>
          <a:prstGeom prst="rect">
            <a:avLst/>
          </a:prstGeom>
          <a:noFill/>
          <a:ln/>
        </p:spPr>
        <p:txBody>
          <a:bodyPr wrap="square" rtlCol="0" anchor="ctr"/>
          <a:lstStyle/>
          <a:p>
            <a:pPr algn="ctr" indent="0" marL="0">
              <a:buNone/>
            </a:pPr>
            <a:r>
              <a:rPr lang="en-US" sz="1800" b="1" dirty="0">
                <a:solidFill>
                  <a:srgbClr val="6B7280"/>
                </a:solidFill>
              </a:rPr>
              <a:t>→</a:t>
            </a:r>
            <a:endParaRPr lang="en-US" sz="1800" dirty="0"/>
          </a:p>
        </p:txBody>
      </p:sp>
      <p:sp>
        <p:nvSpPr>
          <p:cNvPr id="17" name="Shape 15"/>
          <p:cNvSpPr/>
          <p:nvPr/>
        </p:nvSpPr>
        <p:spPr>
          <a:xfrm>
            <a:off x="3275838" y="1691640"/>
            <a:ext cx="2708910" cy="3291840"/>
          </a:xfrm>
          <a:prstGeom prst="rect">
            <a:avLst/>
          </a:prstGeom>
          <a:solidFill>
            <a:srgbClr val="F5F5F5"/>
          </a:solidFill>
          <a:ln w="12700">
            <a:solidFill>
              <a:srgbClr val="D1D5DB"/>
            </a:solidFill>
            <a:prstDash val="solid"/>
          </a:ln>
        </p:spPr>
      </p:sp>
      <p:sp>
        <p:nvSpPr>
          <p:cNvPr id="18" name="Shape 16"/>
          <p:cNvSpPr/>
          <p:nvPr/>
        </p:nvSpPr>
        <p:spPr>
          <a:xfrm>
            <a:off x="3275838" y="1691640"/>
            <a:ext cx="2708910" cy="36576"/>
          </a:xfrm>
          <a:prstGeom prst="rect">
            <a:avLst/>
          </a:prstGeom>
          <a:solidFill>
            <a:srgbClr val="10B981"/>
          </a:solidFill>
          <a:ln/>
        </p:spPr>
      </p:sp>
      <p:sp>
        <p:nvSpPr>
          <p:cNvPr id="19" name="Shape 17"/>
          <p:cNvSpPr/>
          <p:nvPr/>
        </p:nvSpPr>
        <p:spPr>
          <a:xfrm>
            <a:off x="3385566" y="1828800"/>
            <a:ext cx="914400" cy="246888"/>
          </a:xfrm>
          <a:prstGeom prst="rect">
            <a:avLst/>
          </a:prstGeom>
          <a:solidFill>
            <a:srgbClr val="F0FBFF"/>
          </a:solidFill>
          <a:ln w="12700">
            <a:solidFill>
              <a:srgbClr val="E0F2FE"/>
            </a:solidFill>
            <a:prstDash val="solid"/>
          </a:ln>
        </p:spPr>
      </p:sp>
      <p:sp>
        <p:nvSpPr>
          <p:cNvPr id="20" name="Text 18"/>
          <p:cNvSpPr/>
          <p:nvPr/>
        </p:nvSpPr>
        <p:spPr>
          <a:xfrm>
            <a:off x="3385566" y="1828800"/>
            <a:ext cx="914400" cy="246888"/>
          </a:xfrm>
          <a:prstGeom prst="rect">
            <a:avLst/>
          </a:prstGeom>
          <a:noFill/>
          <a:ln/>
        </p:spPr>
        <p:txBody>
          <a:bodyPr wrap="square" rtlCol="0" anchor="ctr"/>
          <a:lstStyle/>
          <a:p>
            <a:pPr algn="ctr" indent="0" marL="0">
              <a:buNone/>
            </a:pPr>
            <a:r>
              <a:rPr lang="en-US" sz="900" b="1" dirty="0">
                <a:solidFill>
                  <a:srgbClr val="0C1A2E"/>
                </a:solidFill>
              </a:rPr>
              <a:t>Tú decides</a:t>
            </a:r>
            <a:endParaRPr lang="en-US" sz="900" dirty="0"/>
          </a:p>
        </p:txBody>
      </p:sp>
      <p:sp>
        <p:nvSpPr>
          <p:cNvPr id="21" name="Text 19"/>
          <p:cNvSpPr/>
          <p:nvPr/>
        </p:nvSpPr>
        <p:spPr>
          <a:xfrm>
            <a:off x="4378833" y="2194560"/>
            <a:ext cx="502920" cy="457200"/>
          </a:xfrm>
          <a:prstGeom prst="rect">
            <a:avLst/>
          </a:prstGeom>
          <a:noFill/>
          <a:ln/>
        </p:spPr>
        <p:txBody>
          <a:bodyPr wrap="square" rtlCol="0" anchor="ctr"/>
          <a:lstStyle/>
          <a:p>
            <a:pPr algn="ctr" indent="0" marL="0">
              <a:buNone/>
            </a:pPr>
            <a:r>
              <a:rPr lang="en-US" sz="2200" dirty="0">
                <a:solidFill>
                  <a:srgbClr val="000000"/>
                </a:solidFill>
              </a:rPr>
              <a:t>2</a:t>
            </a:r>
            <a:endParaRPr lang="en-US" sz="2200" dirty="0"/>
          </a:p>
        </p:txBody>
      </p:sp>
      <p:sp>
        <p:nvSpPr>
          <p:cNvPr id="22" name="Text 20"/>
          <p:cNvSpPr/>
          <p:nvPr/>
        </p:nvSpPr>
        <p:spPr>
          <a:xfrm>
            <a:off x="3367278" y="2743200"/>
            <a:ext cx="2526030" cy="457200"/>
          </a:xfrm>
          <a:prstGeom prst="rect">
            <a:avLst/>
          </a:prstGeom>
          <a:noFill/>
          <a:ln/>
        </p:spPr>
        <p:txBody>
          <a:bodyPr wrap="square" rtlCol="0" anchor="ctr"/>
          <a:lstStyle/>
          <a:p>
            <a:pPr algn="ctr" indent="0" marL="0">
              <a:buNone/>
            </a:pPr>
            <a:r>
              <a:rPr lang="en-US" sz="1150" b="1" dirty="0">
                <a:solidFill>
                  <a:srgbClr val="0C1A2E"/>
                </a:solidFill>
              </a:rPr>
              <a:t>Nos dices cómo seguir</a:t>
            </a:r>
            <a:endParaRPr lang="en-US" sz="1150" dirty="0"/>
          </a:p>
        </p:txBody>
      </p:sp>
      <p:sp>
        <p:nvSpPr>
          <p:cNvPr id="23" name="Text 21"/>
          <p:cNvSpPr/>
          <p:nvPr/>
        </p:nvSpPr>
        <p:spPr>
          <a:xfrm>
            <a:off x="3367278" y="3291840"/>
            <a:ext cx="2526030" cy="1508760"/>
          </a:xfrm>
          <a:prstGeom prst="rect">
            <a:avLst/>
          </a:prstGeom>
          <a:noFill/>
          <a:ln/>
        </p:spPr>
        <p:txBody>
          <a:bodyPr wrap="square" rtlCol="0" anchor="t"/>
          <a:lstStyle/>
          <a:p>
            <a:pPr algn="ctr" indent="0" marL="0">
              <a:buNone/>
            </a:pPr>
            <a:r>
              <a:rPr lang="en-US" sz="1000" dirty="0">
                <a:solidFill>
                  <a:srgbClr val="1F2937"/>
                </a:solidFill>
              </a:rPr>
              <a:t>Qué cambiarías, qué esperabas ver, qué iniciativas quieres perseguir. Una vez tomas tu decisión, nos informas.</a:t>
            </a:r>
            <a:endParaRPr lang="en-US" sz="1000" dirty="0"/>
          </a:p>
        </p:txBody>
      </p:sp>
      <p:sp>
        <p:nvSpPr>
          <p:cNvPr id="24" name="Text 22"/>
          <p:cNvSpPr/>
          <p:nvPr/>
        </p:nvSpPr>
        <p:spPr>
          <a:xfrm>
            <a:off x="5984748" y="3337560"/>
            <a:ext cx="137160" cy="365760"/>
          </a:xfrm>
          <a:prstGeom prst="rect">
            <a:avLst/>
          </a:prstGeom>
          <a:noFill/>
          <a:ln/>
        </p:spPr>
        <p:txBody>
          <a:bodyPr wrap="square" rtlCol="0" anchor="ctr"/>
          <a:lstStyle/>
          <a:p>
            <a:pPr algn="ctr" indent="0" marL="0">
              <a:buNone/>
            </a:pPr>
            <a:r>
              <a:rPr lang="en-US" sz="1800" b="1" dirty="0">
                <a:solidFill>
                  <a:srgbClr val="6B7280"/>
                </a:solidFill>
              </a:rPr>
              <a:t>→</a:t>
            </a:r>
            <a:endParaRPr lang="en-US" sz="1800" dirty="0"/>
          </a:p>
        </p:txBody>
      </p:sp>
      <p:sp>
        <p:nvSpPr>
          <p:cNvPr id="25" name="Shape 23"/>
          <p:cNvSpPr/>
          <p:nvPr/>
        </p:nvSpPr>
        <p:spPr>
          <a:xfrm>
            <a:off x="6094476" y="1691640"/>
            <a:ext cx="2708910" cy="3291840"/>
          </a:xfrm>
          <a:prstGeom prst="rect">
            <a:avLst/>
          </a:prstGeom>
          <a:solidFill>
            <a:srgbClr val="F5F5F5"/>
          </a:solidFill>
          <a:ln w="12700">
            <a:solidFill>
              <a:srgbClr val="D1D5DB"/>
            </a:solidFill>
            <a:prstDash val="solid"/>
          </a:ln>
        </p:spPr>
      </p:sp>
      <p:sp>
        <p:nvSpPr>
          <p:cNvPr id="26" name="Shape 24"/>
          <p:cNvSpPr/>
          <p:nvPr/>
        </p:nvSpPr>
        <p:spPr>
          <a:xfrm>
            <a:off x="6094476" y="1691640"/>
            <a:ext cx="2708910" cy="36576"/>
          </a:xfrm>
          <a:prstGeom prst="rect">
            <a:avLst/>
          </a:prstGeom>
          <a:solidFill>
            <a:srgbClr val="10B981"/>
          </a:solidFill>
          <a:ln/>
        </p:spPr>
      </p:sp>
      <p:sp>
        <p:nvSpPr>
          <p:cNvPr id="27" name="Shape 25"/>
          <p:cNvSpPr/>
          <p:nvPr/>
        </p:nvSpPr>
        <p:spPr>
          <a:xfrm>
            <a:off x="6204204" y="1828800"/>
            <a:ext cx="914400" cy="246888"/>
          </a:xfrm>
          <a:prstGeom prst="rect">
            <a:avLst/>
          </a:prstGeom>
          <a:solidFill>
            <a:srgbClr val="F0FBFF"/>
          </a:solidFill>
          <a:ln w="12700">
            <a:solidFill>
              <a:srgbClr val="E0F2FE"/>
            </a:solidFill>
            <a:prstDash val="solid"/>
          </a:ln>
        </p:spPr>
      </p:sp>
      <p:sp>
        <p:nvSpPr>
          <p:cNvPr id="28" name="Text 26"/>
          <p:cNvSpPr/>
          <p:nvPr/>
        </p:nvSpPr>
        <p:spPr>
          <a:xfrm>
            <a:off x="6204204" y="1828800"/>
            <a:ext cx="914400" cy="246888"/>
          </a:xfrm>
          <a:prstGeom prst="rect">
            <a:avLst/>
          </a:prstGeom>
          <a:noFill/>
          <a:ln/>
        </p:spPr>
        <p:txBody>
          <a:bodyPr wrap="square" rtlCol="0" anchor="ctr"/>
          <a:lstStyle/>
          <a:p>
            <a:pPr algn="ctr" indent="0" marL="0">
              <a:buNone/>
            </a:pPr>
            <a:r>
              <a:rPr lang="en-US" sz="900" b="1" dirty="0">
                <a:solidFill>
                  <a:srgbClr val="0C1A2E"/>
                </a:solidFill>
              </a:rPr>
              <a:t>Primer pago</a:t>
            </a:r>
            <a:endParaRPr lang="en-US" sz="900" dirty="0"/>
          </a:p>
        </p:txBody>
      </p:sp>
      <p:sp>
        <p:nvSpPr>
          <p:cNvPr id="29" name="Text 27"/>
          <p:cNvSpPr/>
          <p:nvPr/>
        </p:nvSpPr>
        <p:spPr>
          <a:xfrm>
            <a:off x="7197471" y="2194560"/>
            <a:ext cx="502920" cy="457200"/>
          </a:xfrm>
          <a:prstGeom prst="rect">
            <a:avLst/>
          </a:prstGeom>
          <a:noFill/>
          <a:ln/>
        </p:spPr>
        <p:txBody>
          <a:bodyPr wrap="square" rtlCol="0" anchor="ctr"/>
          <a:lstStyle/>
          <a:p>
            <a:pPr algn="ctr" indent="0" marL="0">
              <a:buNone/>
            </a:pPr>
            <a:r>
              <a:rPr lang="en-US" sz="2200" dirty="0">
                <a:solidFill>
                  <a:srgbClr val="000000"/>
                </a:solidFill>
              </a:rPr>
              <a:t>3</a:t>
            </a:r>
            <a:endParaRPr lang="en-US" sz="2200" dirty="0"/>
          </a:p>
        </p:txBody>
      </p:sp>
      <p:sp>
        <p:nvSpPr>
          <p:cNvPr id="30" name="Text 28"/>
          <p:cNvSpPr/>
          <p:nvPr/>
        </p:nvSpPr>
        <p:spPr>
          <a:xfrm>
            <a:off x="6185916" y="2743200"/>
            <a:ext cx="2526030" cy="457200"/>
          </a:xfrm>
          <a:prstGeom prst="rect">
            <a:avLst/>
          </a:prstGeom>
          <a:noFill/>
          <a:ln/>
        </p:spPr>
        <p:txBody>
          <a:bodyPr wrap="square" rtlCol="0" anchor="ctr"/>
          <a:lstStyle/>
          <a:p>
            <a:pPr algn="ctr" indent="0" marL="0">
              <a:buNone/>
            </a:pPr>
            <a:r>
              <a:rPr lang="en-US" sz="1150" b="1" dirty="0">
                <a:solidFill>
                  <a:srgbClr val="0C1A2E"/>
                </a:solidFill>
              </a:rPr>
              <a:t>Arrancamos el Ciclo 2</a:t>
            </a:r>
            <a:endParaRPr lang="en-US" sz="1150" dirty="0"/>
          </a:p>
        </p:txBody>
      </p:sp>
      <p:sp>
        <p:nvSpPr>
          <p:cNvPr id="31" name="Text 29"/>
          <p:cNvSpPr/>
          <p:nvPr/>
        </p:nvSpPr>
        <p:spPr>
          <a:xfrm>
            <a:off x="6185916" y="3291840"/>
            <a:ext cx="2526030" cy="1508760"/>
          </a:xfrm>
          <a:prstGeom prst="rect">
            <a:avLst/>
          </a:prstGeom>
          <a:noFill/>
          <a:ln/>
        </p:spPr>
        <p:txBody>
          <a:bodyPr wrap="square" rtlCol="0" anchor="t"/>
          <a:lstStyle/>
          <a:p>
            <a:pPr algn="ctr" indent="0" marL="0">
              <a:buNone/>
            </a:pPr>
            <a:r>
              <a:rPr lang="en-US" sz="1000" dirty="0">
                <a:solidFill>
                  <a:srgbClr val="1F2937"/>
                </a:solidFill>
              </a:rPr>
              <a:t>Con el upfront confirmado iniciamos: Entendimiento → Diseño → Validación → Construcción → Pruebas → Ajustes → Implementación → Garantía 1 mes.</a:t>
            </a:r>
            <a:endParaRPr lang="en-US" sz="1000" dirty="0"/>
          </a:p>
        </p:txBody>
      </p:sp>
      <p:sp>
        <p:nvSpPr>
          <p:cNvPr id="32" name="Text 30"/>
          <p:cNvSpPr/>
          <p:nvPr/>
        </p:nvSpPr>
        <p:spPr>
          <a:xfrm>
            <a:off x="8803386" y="3337560"/>
            <a:ext cx="137160" cy="365760"/>
          </a:xfrm>
          <a:prstGeom prst="rect">
            <a:avLst/>
          </a:prstGeom>
          <a:noFill/>
          <a:ln/>
        </p:spPr>
        <p:txBody>
          <a:bodyPr wrap="square" rtlCol="0" anchor="ctr"/>
          <a:lstStyle/>
          <a:p>
            <a:pPr algn="ctr" indent="0" marL="0">
              <a:buNone/>
            </a:pPr>
            <a:r>
              <a:rPr lang="en-US" sz="1800" b="1" dirty="0">
                <a:solidFill>
                  <a:srgbClr val="6B7280"/>
                </a:solidFill>
              </a:rPr>
              <a:t>→</a:t>
            </a:r>
            <a:endParaRPr lang="en-US" sz="1800" dirty="0"/>
          </a:p>
        </p:txBody>
      </p:sp>
      <p:sp>
        <p:nvSpPr>
          <p:cNvPr id="33" name="Shape 31"/>
          <p:cNvSpPr/>
          <p:nvPr/>
        </p:nvSpPr>
        <p:spPr>
          <a:xfrm>
            <a:off x="8913114" y="1691640"/>
            <a:ext cx="2708910" cy="3291840"/>
          </a:xfrm>
          <a:prstGeom prst="rect">
            <a:avLst/>
          </a:prstGeom>
          <a:solidFill>
            <a:srgbClr val="F5F5F5"/>
          </a:solidFill>
          <a:ln w="12700">
            <a:solidFill>
              <a:srgbClr val="D1D5DB"/>
            </a:solidFill>
            <a:prstDash val="solid"/>
          </a:ln>
        </p:spPr>
      </p:sp>
      <p:sp>
        <p:nvSpPr>
          <p:cNvPr id="34" name="Shape 32"/>
          <p:cNvSpPr/>
          <p:nvPr/>
        </p:nvSpPr>
        <p:spPr>
          <a:xfrm>
            <a:off x="8913114" y="1691640"/>
            <a:ext cx="2708910" cy="36576"/>
          </a:xfrm>
          <a:prstGeom prst="rect">
            <a:avLst/>
          </a:prstGeom>
          <a:solidFill>
            <a:srgbClr val="10B981"/>
          </a:solidFill>
          <a:ln/>
        </p:spPr>
      </p:sp>
      <p:sp>
        <p:nvSpPr>
          <p:cNvPr id="35" name="Shape 33"/>
          <p:cNvSpPr/>
          <p:nvPr/>
        </p:nvSpPr>
        <p:spPr>
          <a:xfrm>
            <a:off x="9022842" y="1828800"/>
            <a:ext cx="914400" cy="246888"/>
          </a:xfrm>
          <a:prstGeom prst="rect">
            <a:avLst/>
          </a:prstGeom>
          <a:solidFill>
            <a:srgbClr val="F0FBFF"/>
          </a:solidFill>
          <a:ln w="12700">
            <a:solidFill>
              <a:srgbClr val="E0F2FE"/>
            </a:solidFill>
            <a:prstDash val="solid"/>
          </a:ln>
        </p:spPr>
      </p:sp>
      <p:sp>
        <p:nvSpPr>
          <p:cNvPr id="36" name="Text 34"/>
          <p:cNvSpPr/>
          <p:nvPr/>
        </p:nvSpPr>
        <p:spPr>
          <a:xfrm>
            <a:off x="9022842" y="1828800"/>
            <a:ext cx="914400" cy="246888"/>
          </a:xfrm>
          <a:prstGeom prst="rect">
            <a:avLst/>
          </a:prstGeom>
          <a:noFill/>
          <a:ln/>
        </p:spPr>
        <p:txBody>
          <a:bodyPr wrap="square" rtlCol="0" anchor="ctr"/>
          <a:lstStyle/>
          <a:p>
            <a:pPr algn="ctr" indent="0" marL="0">
              <a:buNone/>
            </a:pPr>
            <a:r>
              <a:rPr lang="en-US" sz="900" b="1" dirty="0">
                <a:solidFill>
                  <a:srgbClr val="0C1A2E"/>
                </a:solidFill>
              </a:rPr>
              <a:t>Resultado</a:t>
            </a:r>
            <a:endParaRPr lang="en-US" sz="900" dirty="0"/>
          </a:p>
        </p:txBody>
      </p:sp>
      <p:sp>
        <p:nvSpPr>
          <p:cNvPr id="37" name="Text 35"/>
          <p:cNvSpPr/>
          <p:nvPr/>
        </p:nvSpPr>
        <p:spPr>
          <a:xfrm>
            <a:off x="10016109" y="2194560"/>
            <a:ext cx="502920" cy="457200"/>
          </a:xfrm>
          <a:prstGeom prst="rect">
            <a:avLst/>
          </a:prstGeom>
          <a:noFill/>
          <a:ln/>
        </p:spPr>
        <p:txBody>
          <a:bodyPr wrap="square" rtlCol="0" anchor="ctr"/>
          <a:lstStyle/>
          <a:p>
            <a:pPr algn="ctr" indent="0" marL="0">
              <a:buNone/>
            </a:pPr>
            <a:r>
              <a:rPr lang="en-US" sz="2200" dirty="0">
                <a:solidFill>
                  <a:srgbClr val="000000"/>
                </a:solidFill>
              </a:rPr>
              <a:t>4</a:t>
            </a:r>
            <a:endParaRPr lang="en-US" sz="2200" dirty="0"/>
          </a:p>
        </p:txBody>
      </p:sp>
      <p:sp>
        <p:nvSpPr>
          <p:cNvPr id="38" name="Text 36"/>
          <p:cNvSpPr/>
          <p:nvPr/>
        </p:nvSpPr>
        <p:spPr>
          <a:xfrm>
            <a:off x="9004554" y="2743200"/>
            <a:ext cx="2526030" cy="457200"/>
          </a:xfrm>
          <a:prstGeom prst="rect">
            <a:avLst/>
          </a:prstGeom>
          <a:noFill/>
          <a:ln/>
        </p:spPr>
        <p:txBody>
          <a:bodyPr wrap="square" rtlCol="0" anchor="ctr"/>
          <a:lstStyle/>
          <a:p>
            <a:pPr algn="ctr" indent="0" marL="0">
              <a:buNone/>
            </a:pPr>
            <a:r>
              <a:rPr lang="en-US" sz="1150" b="1" dirty="0">
                <a:solidFill>
                  <a:srgbClr val="0C1A2E"/>
                </a:solidFill>
              </a:rPr>
              <a:t>Solución en producción</a:t>
            </a:r>
            <a:endParaRPr lang="en-US" sz="1150" dirty="0"/>
          </a:p>
        </p:txBody>
      </p:sp>
      <p:sp>
        <p:nvSpPr>
          <p:cNvPr id="39" name="Text 37"/>
          <p:cNvSpPr/>
          <p:nvPr/>
        </p:nvSpPr>
        <p:spPr>
          <a:xfrm>
            <a:off x="9004554" y="3291840"/>
            <a:ext cx="2526030" cy="1508760"/>
          </a:xfrm>
          <a:prstGeom prst="rect">
            <a:avLst/>
          </a:prstGeom>
          <a:noFill/>
          <a:ln/>
        </p:spPr>
        <p:txBody>
          <a:bodyPr wrap="square" rtlCol="0" anchor="t"/>
          <a:lstStyle/>
          <a:p>
            <a:pPr algn="ctr" indent="0" marL="0">
              <a:buNone/>
            </a:pPr>
            <a:r>
              <a:rPr lang="en-US" sz="1000" dirty="0">
                <a:solidFill>
                  <a:srgbClr val="1F2937"/>
                </a:solidFill>
              </a:rPr>
              <a:t>La solución queda funcionando en tu empresa. El equipo la usa desde el día uno. El saldo se paga a la entrega.</a:t>
            </a:r>
            <a:endParaRPr lang="en-US" sz="1000" dirty="0"/>
          </a:p>
        </p:txBody>
      </p:sp>
      <p:sp>
        <p:nvSpPr>
          <p:cNvPr id="40" name="Shape 38"/>
          <p:cNvSpPr/>
          <p:nvPr/>
        </p:nvSpPr>
        <p:spPr>
          <a:xfrm>
            <a:off x="411480" y="5120640"/>
            <a:ext cx="11365992" cy="594360"/>
          </a:xfrm>
          <a:prstGeom prst="rect">
            <a:avLst/>
          </a:prstGeom>
          <a:solidFill>
            <a:srgbClr val="0C1A2E"/>
          </a:solidFill>
          <a:ln/>
        </p:spPr>
      </p:sp>
      <p:sp>
        <p:nvSpPr>
          <p:cNvPr id="41" name="Text 39"/>
          <p:cNvSpPr/>
          <p:nvPr/>
        </p:nvSpPr>
        <p:spPr>
          <a:xfrm>
            <a:off x="548640" y="5148072"/>
            <a:ext cx="9262872" cy="548640"/>
          </a:xfrm>
          <a:prstGeom prst="rect">
            <a:avLst/>
          </a:prstGeom>
          <a:noFill/>
          <a:ln/>
        </p:spPr>
        <p:txBody>
          <a:bodyPr wrap="square" rtlCol="0" anchor="ctr"/>
          <a:lstStyle/>
          <a:p>
            <a:pPr indent="0" marL="0">
              <a:buNone/>
            </a:pPr>
            <a:r>
              <a:rPr lang="en-US" sz="1200" b="1" dirty="0">
                <a:solidFill>
                  <a:srgbClr val="FFFFFF"/>
                </a:solidFill>
              </a:rPr>
              <a:t>¿Arrancamos con el asistente de WhatsApp? En 3-4 semanas su equipo sigue trabajando igual, pero la información deja de perderse.</a:t>
            </a:r>
            <a:endParaRPr lang="en-US" sz="1200" dirty="0"/>
          </a:p>
        </p:txBody>
      </p:sp>
      <p:sp>
        <p:nvSpPr>
          <p:cNvPr id="42" name="Text 40"/>
          <p:cNvSpPr/>
          <p:nvPr/>
        </p:nvSpPr>
        <p:spPr>
          <a:xfrm>
            <a:off x="7434072" y="5148072"/>
            <a:ext cx="4343400" cy="548640"/>
          </a:xfrm>
          <a:prstGeom prst="rect">
            <a:avLst/>
          </a:prstGeom>
          <a:noFill/>
          <a:ln/>
        </p:spPr>
        <p:txBody>
          <a:bodyPr wrap="square" rtlCol="0" anchor="ctr"/>
          <a:lstStyle/>
          <a:p>
            <a:pPr algn="r" indent="0" marL="0">
              <a:buNone/>
            </a:pPr>
            <a:r>
              <a:rPr lang="en-US" sz="1000" dirty="0">
                <a:solidFill>
                  <a:srgbClr val="F5F5F5"/>
                </a:solidFill>
              </a:rPr>
              <a:t>Ricardo Mejía  ·  contacto@nexostrat.com  ·  +57 333 286 3963</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2026-05-29T03:19:15Z</dcterms:created>
  <dcterms:modified xsi:type="dcterms:W3CDTF">2026-05-29T03:19:15Z</dcterms:modified>
</cp:coreProperties>
</file>